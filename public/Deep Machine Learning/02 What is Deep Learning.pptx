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bb2aca313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bb2aca31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b03873b16a_0_1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b03873b16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b03873b16a_0_1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b03873b16a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b03873b16a_0_1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b03873b16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03873b16a_0_1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03873b16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b03873b16a_0_2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b03873b16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03873b16a_0_2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b03873b16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b03873b16a_0_2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b03873b16a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b03873b16a_0_2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b03873b16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b03873b16a_0_2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b03873b16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bb2aca3131_0_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bb2aca313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5"/>
          <p:cNvSpPr txBox="1"/>
          <p:nvPr>
            <p:ph type="ctrTitle"/>
          </p:nvPr>
        </p:nvSpPr>
        <p:spPr>
          <a:xfrm>
            <a:off x="3172375" y="3617525"/>
            <a:ext cx="53001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What is Deep Learning?</a:t>
            </a:r>
            <a:endParaRPr sz="4500" u="sng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350250" y="435950"/>
            <a:ext cx="8316900" cy="4281300"/>
          </a:xfrm>
          <a:prstGeom prst="ellipse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6"/>
          <p:cNvSpPr txBox="1"/>
          <p:nvPr>
            <p:ph type="ctrTitle"/>
          </p:nvPr>
        </p:nvSpPr>
        <p:spPr>
          <a:xfrm>
            <a:off x="2451825" y="516825"/>
            <a:ext cx="4770600" cy="14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300"/>
              <a:t>Artificial intelligence</a:t>
            </a:r>
            <a:endParaRPr sz="1200"/>
          </a:p>
        </p:txBody>
      </p:sp>
      <p:sp>
        <p:nvSpPr>
          <p:cNvPr id="118" name="Google Shape;118;p26"/>
          <p:cNvSpPr/>
          <p:nvPr/>
        </p:nvSpPr>
        <p:spPr>
          <a:xfrm>
            <a:off x="1535175" y="1676775"/>
            <a:ext cx="6233700" cy="2958300"/>
          </a:xfrm>
          <a:prstGeom prst="ellipse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6"/>
          <p:cNvSpPr txBox="1"/>
          <p:nvPr>
            <p:ph type="ctrTitle"/>
          </p:nvPr>
        </p:nvSpPr>
        <p:spPr>
          <a:xfrm>
            <a:off x="2836900" y="1676775"/>
            <a:ext cx="4770600" cy="14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300"/>
              <a:t>Machine learning</a:t>
            </a:r>
            <a:endParaRPr sz="1200"/>
          </a:p>
        </p:txBody>
      </p:sp>
      <p:sp>
        <p:nvSpPr>
          <p:cNvPr id="120" name="Google Shape;120;p26"/>
          <p:cNvSpPr/>
          <p:nvPr/>
        </p:nvSpPr>
        <p:spPr>
          <a:xfrm>
            <a:off x="2074650" y="2898675"/>
            <a:ext cx="5147100" cy="15726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6"/>
          <p:cNvSpPr txBox="1"/>
          <p:nvPr>
            <p:ph type="ctrTitle"/>
          </p:nvPr>
        </p:nvSpPr>
        <p:spPr>
          <a:xfrm>
            <a:off x="3107275" y="2841300"/>
            <a:ext cx="4770600" cy="14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300"/>
              <a:t>Deep learning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/>
          <p:nvPr/>
        </p:nvSpPr>
        <p:spPr>
          <a:xfrm>
            <a:off x="0" y="-76200"/>
            <a:ext cx="9188700" cy="16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>
            <p:ph type="ctrTitle"/>
          </p:nvPr>
        </p:nvSpPr>
        <p:spPr>
          <a:xfrm>
            <a:off x="790275" y="2322700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000000"/>
                </a:solidFill>
              </a:rPr>
              <a:t>What is “deep”?</a:t>
            </a:r>
            <a:endParaRPr sz="5200">
              <a:solidFill>
                <a:srgbClr val="000000"/>
              </a:solidFill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Raleway"/>
              <a:buChar char="●"/>
            </a:pPr>
            <a:r>
              <a:rPr lang="en" sz="3100">
                <a:solidFill>
                  <a:srgbClr val="000000"/>
                </a:solidFill>
              </a:rPr>
              <a:t>Circuits are typically organized in many </a:t>
            </a:r>
            <a:r>
              <a:rPr i="1" lang="en" sz="3100">
                <a:solidFill>
                  <a:srgbClr val="000000"/>
                </a:solidFill>
              </a:rPr>
              <a:t>layers</a:t>
            </a:r>
            <a:endParaRPr i="1" sz="3100">
              <a:solidFill>
                <a:srgbClr val="000000"/>
              </a:solidFill>
            </a:endParaRPr>
          </a:p>
          <a:p>
            <a:pPr indent="-4254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3100"/>
              <a:buFont typeface="Raleway"/>
              <a:buChar char="○"/>
            </a:pPr>
            <a:r>
              <a:rPr i="1" lang="en" sz="31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Computation paths from inputs to outputs have many steps</a:t>
            </a:r>
            <a:r>
              <a:rPr lang="en" sz="31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31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1883" y="-38100"/>
            <a:ext cx="1413141" cy="158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/>
          <p:nvPr/>
        </p:nvSpPr>
        <p:spPr>
          <a:xfrm>
            <a:off x="0" y="-76200"/>
            <a:ext cx="9188700" cy="200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8"/>
          <p:cNvSpPr txBox="1"/>
          <p:nvPr>
            <p:ph type="ctrTitle"/>
          </p:nvPr>
        </p:nvSpPr>
        <p:spPr>
          <a:xfrm>
            <a:off x="790275" y="2322700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000000"/>
                </a:solidFill>
              </a:rPr>
              <a:t>Rise of deep learning</a:t>
            </a:r>
            <a:endParaRPr sz="5400">
              <a:solidFill>
                <a:srgbClr val="000000"/>
              </a:solidFill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Char char="●"/>
            </a:pPr>
            <a:r>
              <a:rPr lang="en" sz="3300">
                <a:solidFill>
                  <a:srgbClr val="000000"/>
                </a:solidFill>
              </a:rPr>
              <a:t>Data availability</a:t>
            </a:r>
            <a:endParaRPr sz="3300">
              <a:solidFill>
                <a:srgbClr val="000000"/>
              </a:solidFill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300"/>
              <a:buChar char="●"/>
            </a:pPr>
            <a:r>
              <a:rPr lang="en" sz="3300">
                <a:solidFill>
                  <a:srgbClr val="000000"/>
                </a:solidFill>
              </a:rPr>
              <a:t>Compute resources</a:t>
            </a:r>
            <a:endParaRPr sz="3300">
              <a:solidFill>
                <a:srgbClr val="000000"/>
              </a:solidFill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3300"/>
              <a:buChar char="●"/>
            </a:pPr>
            <a:r>
              <a:rPr lang="en" sz="3300">
                <a:solidFill>
                  <a:srgbClr val="000000"/>
                </a:solidFill>
              </a:rPr>
              <a:t>Algorithmic innovation</a:t>
            </a:r>
            <a:endParaRPr sz="3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29"/>
          <p:cNvCxnSpPr/>
          <p:nvPr/>
        </p:nvCxnSpPr>
        <p:spPr>
          <a:xfrm flipH="1" rot="10800000">
            <a:off x="1150975" y="3320050"/>
            <a:ext cx="6555600" cy="752100"/>
          </a:xfrm>
          <a:prstGeom prst="curvedConnector3">
            <a:avLst>
              <a:gd fmla="val 13498" name="adj1"/>
            </a:avLst>
          </a:prstGeom>
          <a:noFill/>
          <a:ln cap="flat" cmpd="sng" w="76200">
            <a:solidFill>
              <a:srgbClr val="B45F0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9"/>
          <p:cNvCxnSpPr/>
          <p:nvPr/>
        </p:nvCxnSpPr>
        <p:spPr>
          <a:xfrm flipH="1" rot="10800000">
            <a:off x="1251750" y="2216400"/>
            <a:ext cx="6639300" cy="1806600"/>
          </a:xfrm>
          <a:prstGeom prst="curvedConnector3">
            <a:avLst>
              <a:gd fmla="val 28471" name="adj1"/>
            </a:avLst>
          </a:prstGeom>
          <a:noFill/>
          <a:ln cap="flat" cmpd="sng" w="76200">
            <a:solidFill>
              <a:srgbClr val="F3DB4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9"/>
          <p:cNvSpPr txBox="1"/>
          <p:nvPr>
            <p:ph type="ctrTitle"/>
          </p:nvPr>
        </p:nvSpPr>
        <p:spPr>
          <a:xfrm>
            <a:off x="3628400" y="3983900"/>
            <a:ext cx="3628500" cy="10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500">
                <a:solidFill>
                  <a:srgbClr val="000000"/>
                </a:solidFill>
              </a:rPr>
              <a:t>data 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42" name="Google Shape;142;p29"/>
          <p:cNvSpPr/>
          <p:nvPr/>
        </p:nvSpPr>
        <p:spPr>
          <a:xfrm>
            <a:off x="1150975" y="3983900"/>
            <a:ext cx="7521600" cy="16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" name="Google Shape;143;p29"/>
          <p:cNvCxnSpPr/>
          <p:nvPr/>
        </p:nvCxnSpPr>
        <p:spPr>
          <a:xfrm flipH="1" rot="10800000">
            <a:off x="1202600" y="1021800"/>
            <a:ext cx="6621900" cy="30012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9"/>
          <p:cNvSpPr/>
          <p:nvPr/>
        </p:nvSpPr>
        <p:spPr>
          <a:xfrm rot="-5400000">
            <a:off x="-545150" y="2258200"/>
            <a:ext cx="3488100" cy="18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9"/>
          <p:cNvSpPr txBox="1"/>
          <p:nvPr>
            <p:ph type="ctrTitle"/>
          </p:nvPr>
        </p:nvSpPr>
        <p:spPr>
          <a:xfrm rot="-5400000">
            <a:off x="-1250375" y="1540600"/>
            <a:ext cx="3628500" cy="10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500">
                <a:solidFill>
                  <a:srgbClr val="000000"/>
                </a:solidFill>
              </a:rPr>
              <a:t>performance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46" name="Google Shape;146;p29"/>
          <p:cNvSpPr txBox="1"/>
          <p:nvPr>
            <p:ph type="ctrTitle"/>
          </p:nvPr>
        </p:nvSpPr>
        <p:spPr>
          <a:xfrm>
            <a:off x="4078075" y="3072700"/>
            <a:ext cx="4823100" cy="10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solidFill>
                  <a:srgbClr val="B45F06"/>
                </a:solidFill>
              </a:rPr>
              <a:t>Traditional machine learning</a:t>
            </a:r>
            <a:endParaRPr sz="300">
              <a:solidFill>
                <a:srgbClr val="B45F06"/>
              </a:solidFill>
            </a:endParaRPr>
          </a:p>
        </p:txBody>
      </p:sp>
      <p:sp>
        <p:nvSpPr>
          <p:cNvPr id="147" name="Google Shape;147;p29"/>
          <p:cNvSpPr txBox="1"/>
          <p:nvPr>
            <p:ph type="ctrTitle"/>
          </p:nvPr>
        </p:nvSpPr>
        <p:spPr>
          <a:xfrm>
            <a:off x="4134625" y="0"/>
            <a:ext cx="4823100" cy="10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solidFill>
                  <a:srgbClr val="E69138"/>
                </a:solidFill>
              </a:rPr>
              <a:t>Large neural network</a:t>
            </a:r>
            <a:endParaRPr sz="300">
              <a:solidFill>
                <a:srgbClr val="E69138"/>
              </a:solidFill>
            </a:endParaRPr>
          </a:p>
        </p:txBody>
      </p:sp>
      <p:sp>
        <p:nvSpPr>
          <p:cNvPr id="148" name="Google Shape;148;p29"/>
          <p:cNvSpPr txBox="1"/>
          <p:nvPr>
            <p:ph type="ctrTitle"/>
          </p:nvPr>
        </p:nvSpPr>
        <p:spPr>
          <a:xfrm>
            <a:off x="4921175" y="2137050"/>
            <a:ext cx="4823100" cy="10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solidFill>
                  <a:srgbClr val="F3DB4C"/>
                </a:solidFill>
              </a:rPr>
              <a:t>Small neural network</a:t>
            </a:r>
            <a:endParaRPr sz="300">
              <a:solidFill>
                <a:srgbClr val="F3DB4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0" y="-76200"/>
            <a:ext cx="9188700" cy="31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0"/>
          <p:cNvSpPr txBox="1"/>
          <p:nvPr>
            <p:ph type="ctrTitle"/>
          </p:nvPr>
        </p:nvSpPr>
        <p:spPr>
          <a:xfrm>
            <a:off x="790275" y="2322700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rgbClr val="000000"/>
                </a:solidFill>
              </a:rPr>
              <a:t>How do you improve performance?</a:t>
            </a:r>
            <a:endParaRPr sz="51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Increase training data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Increase neural network size 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/>
          <p:nvPr/>
        </p:nvSpPr>
        <p:spPr>
          <a:xfrm>
            <a:off x="0" y="-228600"/>
            <a:ext cx="9188700" cy="31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1"/>
          <p:cNvSpPr txBox="1"/>
          <p:nvPr>
            <p:ph type="ctrTitle"/>
          </p:nvPr>
        </p:nvSpPr>
        <p:spPr>
          <a:xfrm>
            <a:off x="561675" y="1941700"/>
            <a:ext cx="51540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000000"/>
                </a:solidFill>
              </a:rPr>
              <a:t>Deep learning structure</a:t>
            </a:r>
            <a:endParaRPr sz="49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800"/>
              <a:buChar char="●"/>
            </a:pPr>
            <a:r>
              <a:rPr lang="en" sz="2800">
                <a:solidFill>
                  <a:srgbClr val="000000"/>
                </a:solidFill>
              </a:rPr>
              <a:t>Multi layered structure called neural networks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61" name="Google Shape;1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049" y="1125175"/>
            <a:ext cx="3962000" cy="19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/>
          <p:nvPr/>
        </p:nvSpPr>
        <p:spPr>
          <a:xfrm>
            <a:off x="0" y="-152400"/>
            <a:ext cx="9144000" cy="246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2"/>
          <p:cNvSpPr txBox="1"/>
          <p:nvPr>
            <p:ph type="ctrTitle"/>
          </p:nvPr>
        </p:nvSpPr>
        <p:spPr>
          <a:xfrm>
            <a:off x="561675" y="2322700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0000"/>
                </a:solidFill>
              </a:rPr>
              <a:t>What is the basic idea of deep learning?</a:t>
            </a:r>
            <a:endParaRPr sz="4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aleway"/>
              <a:buChar char="●"/>
            </a:pPr>
            <a:r>
              <a:rPr lang="en" sz="2200">
                <a:solidFill>
                  <a:srgbClr val="000000"/>
                </a:solidFill>
              </a:rPr>
              <a:t>Train circuits with long computation paths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aleway"/>
              <a:buChar char="○"/>
            </a:pPr>
            <a:r>
              <a:rPr lang="en" sz="2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Allows all input variables to interact in complex ways</a:t>
            </a:r>
            <a:endParaRPr sz="2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aleway"/>
              <a:buChar char="○"/>
            </a:pPr>
            <a:r>
              <a:rPr lang="en" sz="2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Each variable can interact with all others</a:t>
            </a:r>
            <a:endParaRPr sz="2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2071" y="457200"/>
            <a:ext cx="1743149" cy="15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ctrTitle"/>
          </p:nvPr>
        </p:nvSpPr>
        <p:spPr>
          <a:xfrm>
            <a:off x="964775" y="-1100275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4300">
                <a:solidFill>
                  <a:srgbClr val="000000"/>
                </a:solidFill>
              </a:rPr>
              <a:t>Shallow model</a:t>
            </a:r>
            <a:endParaRPr sz="2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4" name="Google Shape;174;p33"/>
          <p:cNvSpPr/>
          <p:nvPr/>
        </p:nvSpPr>
        <p:spPr>
          <a:xfrm>
            <a:off x="2777701" y="1809975"/>
            <a:ext cx="854400" cy="854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3"/>
          <p:cNvSpPr/>
          <p:nvPr/>
        </p:nvSpPr>
        <p:spPr>
          <a:xfrm>
            <a:off x="2777701" y="2809038"/>
            <a:ext cx="854400" cy="854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3"/>
          <p:cNvSpPr/>
          <p:nvPr/>
        </p:nvSpPr>
        <p:spPr>
          <a:xfrm>
            <a:off x="2777701" y="3808101"/>
            <a:ext cx="854400" cy="854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5362630" y="2809038"/>
            <a:ext cx="854400" cy="854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33"/>
          <p:cNvCxnSpPr>
            <a:endCxn id="177" idx="2"/>
          </p:cNvCxnSpPr>
          <p:nvPr/>
        </p:nvCxnSpPr>
        <p:spPr>
          <a:xfrm>
            <a:off x="3632230" y="2237238"/>
            <a:ext cx="1730400" cy="999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33"/>
          <p:cNvCxnSpPr>
            <a:endCxn id="177" idx="2"/>
          </p:cNvCxnSpPr>
          <p:nvPr/>
        </p:nvCxnSpPr>
        <p:spPr>
          <a:xfrm>
            <a:off x="3632230" y="3169938"/>
            <a:ext cx="1730400" cy="6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33"/>
          <p:cNvCxnSpPr>
            <a:endCxn id="177" idx="2"/>
          </p:cNvCxnSpPr>
          <p:nvPr/>
        </p:nvCxnSpPr>
        <p:spPr>
          <a:xfrm flipH="1" rot="10800000">
            <a:off x="3632230" y="3236238"/>
            <a:ext cx="1730400" cy="96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ctrTitle"/>
          </p:nvPr>
        </p:nvSpPr>
        <p:spPr>
          <a:xfrm>
            <a:off x="569025" y="-1201050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4300">
                <a:solidFill>
                  <a:srgbClr val="000000"/>
                </a:solidFill>
              </a:rPr>
              <a:t>Deep learning model</a:t>
            </a:r>
            <a:endParaRPr sz="2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6" name="Google Shape;186;p34"/>
          <p:cNvSpPr/>
          <p:nvPr/>
        </p:nvSpPr>
        <p:spPr>
          <a:xfrm>
            <a:off x="3043927" y="1897493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4"/>
          <p:cNvSpPr/>
          <p:nvPr/>
        </p:nvSpPr>
        <p:spPr>
          <a:xfrm>
            <a:off x="3043927" y="2782399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4"/>
          <p:cNvSpPr/>
          <p:nvPr/>
        </p:nvSpPr>
        <p:spPr>
          <a:xfrm>
            <a:off x="3043927" y="3667305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4"/>
          <p:cNvSpPr/>
          <p:nvPr/>
        </p:nvSpPr>
        <p:spPr>
          <a:xfrm>
            <a:off x="5354255" y="1897493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4"/>
          <p:cNvSpPr/>
          <p:nvPr/>
        </p:nvSpPr>
        <p:spPr>
          <a:xfrm>
            <a:off x="5354255" y="2782399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4"/>
          <p:cNvSpPr/>
          <p:nvPr/>
        </p:nvSpPr>
        <p:spPr>
          <a:xfrm>
            <a:off x="5354255" y="3667305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4"/>
          <p:cNvSpPr/>
          <p:nvPr/>
        </p:nvSpPr>
        <p:spPr>
          <a:xfrm>
            <a:off x="7643831" y="2782399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" name="Google Shape;193;p34"/>
          <p:cNvCxnSpPr>
            <a:endCxn id="192" idx="2"/>
          </p:cNvCxnSpPr>
          <p:nvPr/>
        </p:nvCxnSpPr>
        <p:spPr>
          <a:xfrm>
            <a:off x="6111131" y="2275849"/>
            <a:ext cx="1532700" cy="88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34"/>
          <p:cNvCxnSpPr>
            <a:endCxn id="192" idx="2"/>
          </p:cNvCxnSpPr>
          <p:nvPr/>
        </p:nvCxnSpPr>
        <p:spPr>
          <a:xfrm>
            <a:off x="6111131" y="3102049"/>
            <a:ext cx="1532700" cy="58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34"/>
          <p:cNvCxnSpPr>
            <a:endCxn id="192" idx="2"/>
          </p:cNvCxnSpPr>
          <p:nvPr/>
        </p:nvCxnSpPr>
        <p:spPr>
          <a:xfrm flipH="1" rot="10800000">
            <a:off x="6111131" y="3160849"/>
            <a:ext cx="1532700" cy="85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34"/>
          <p:cNvCxnSpPr>
            <a:endCxn id="189" idx="2"/>
          </p:cNvCxnSpPr>
          <p:nvPr/>
        </p:nvCxnSpPr>
        <p:spPr>
          <a:xfrm flipH="1" rot="10800000">
            <a:off x="3800855" y="2275943"/>
            <a:ext cx="1553400" cy="140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34"/>
          <p:cNvCxnSpPr>
            <a:endCxn id="190" idx="2"/>
          </p:cNvCxnSpPr>
          <p:nvPr/>
        </p:nvCxnSpPr>
        <p:spPr>
          <a:xfrm>
            <a:off x="3800855" y="2415949"/>
            <a:ext cx="1553400" cy="744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34"/>
          <p:cNvCxnSpPr>
            <a:endCxn id="191" idx="2"/>
          </p:cNvCxnSpPr>
          <p:nvPr/>
        </p:nvCxnSpPr>
        <p:spPr>
          <a:xfrm>
            <a:off x="3800855" y="2460555"/>
            <a:ext cx="1553400" cy="15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34"/>
          <p:cNvCxnSpPr>
            <a:endCxn id="189" idx="2"/>
          </p:cNvCxnSpPr>
          <p:nvPr/>
        </p:nvCxnSpPr>
        <p:spPr>
          <a:xfrm flipH="1" rot="10800000">
            <a:off x="3800855" y="2275943"/>
            <a:ext cx="1553400" cy="879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34"/>
          <p:cNvCxnSpPr>
            <a:endCxn id="191" idx="2"/>
          </p:cNvCxnSpPr>
          <p:nvPr/>
        </p:nvCxnSpPr>
        <p:spPr>
          <a:xfrm>
            <a:off x="3800855" y="3155055"/>
            <a:ext cx="1553400" cy="890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34"/>
          <p:cNvCxnSpPr>
            <a:endCxn id="190" idx="2"/>
          </p:cNvCxnSpPr>
          <p:nvPr/>
        </p:nvCxnSpPr>
        <p:spPr>
          <a:xfrm flipH="1" rot="10800000">
            <a:off x="3800855" y="3160849"/>
            <a:ext cx="1553400" cy="39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34"/>
          <p:cNvCxnSpPr>
            <a:endCxn id="190" idx="2"/>
          </p:cNvCxnSpPr>
          <p:nvPr/>
        </p:nvCxnSpPr>
        <p:spPr>
          <a:xfrm flipH="1" rot="10800000">
            <a:off x="3800855" y="3160849"/>
            <a:ext cx="1553400" cy="923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34"/>
          <p:cNvCxnSpPr>
            <a:endCxn id="189" idx="2"/>
          </p:cNvCxnSpPr>
          <p:nvPr/>
        </p:nvCxnSpPr>
        <p:spPr>
          <a:xfrm flipH="1" rot="10800000">
            <a:off x="3800855" y="2275943"/>
            <a:ext cx="1553400" cy="180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34"/>
          <p:cNvCxnSpPr>
            <a:endCxn id="191" idx="2"/>
          </p:cNvCxnSpPr>
          <p:nvPr/>
        </p:nvCxnSpPr>
        <p:spPr>
          <a:xfrm flipH="1" rot="10800000">
            <a:off x="3800855" y="4045755"/>
            <a:ext cx="1553400" cy="83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34"/>
          <p:cNvSpPr/>
          <p:nvPr/>
        </p:nvSpPr>
        <p:spPr>
          <a:xfrm>
            <a:off x="770575" y="1879800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4"/>
          <p:cNvSpPr/>
          <p:nvPr/>
        </p:nvSpPr>
        <p:spPr>
          <a:xfrm>
            <a:off x="770575" y="2764706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4"/>
          <p:cNvSpPr/>
          <p:nvPr/>
        </p:nvSpPr>
        <p:spPr>
          <a:xfrm>
            <a:off x="770575" y="3649612"/>
            <a:ext cx="756900" cy="756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34"/>
          <p:cNvCxnSpPr/>
          <p:nvPr/>
        </p:nvCxnSpPr>
        <p:spPr>
          <a:xfrm flipH="1" rot="10800000">
            <a:off x="1527370" y="2258084"/>
            <a:ext cx="1553400" cy="140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34"/>
          <p:cNvCxnSpPr/>
          <p:nvPr/>
        </p:nvCxnSpPr>
        <p:spPr>
          <a:xfrm>
            <a:off x="1527370" y="2398184"/>
            <a:ext cx="1553400" cy="744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34"/>
          <p:cNvCxnSpPr/>
          <p:nvPr/>
        </p:nvCxnSpPr>
        <p:spPr>
          <a:xfrm>
            <a:off x="1527370" y="2442807"/>
            <a:ext cx="1553400" cy="15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34"/>
          <p:cNvCxnSpPr/>
          <p:nvPr/>
        </p:nvCxnSpPr>
        <p:spPr>
          <a:xfrm flipH="1" rot="10800000">
            <a:off x="1527370" y="2258345"/>
            <a:ext cx="1553400" cy="879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34"/>
          <p:cNvCxnSpPr/>
          <p:nvPr/>
        </p:nvCxnSpPr>
        <p:spPr>
          <a:xfrm>
            <a:off x="1527370" y="3137345"/>
            <a:ext cx="1553400" cy="890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4"/>
          <p:cNvCxnSpPr/>
          <p:nvPr/>
        </p:nvCxnSpPr>
        <p:spPr>
          <a:xfrm flipH="1" rot="10800000">
            <a:off x="1527370" y="3142969"/>
            <a:ext cx="1553400" cy="39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34"/>
          <p:cNvCxnSpPr/>
          <p:nvPr/>
        </p:nvCxnSpPr>
        <p:spPr>
          <a:xfrm flipH="1" rot="10800000">
            <a:off x="1527370" y="3143175"/>
            <a:ext cx="1553400" cy="923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34"/>
          <p:cNvCxnSpPr/>
          <p:nvPr/>
        </p:nvCxnSpPr>
        <p:spPr>
          <a:xfrm flipH="1" rot="10800000">
            <a:off x="1527370" y="2258175"/>
            <a:ext cx="1553400" cy="180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34"/>
          <p:cNvCxnSpPr/>
          <p:nvPr/>
        </p:nvCxnSpPr>
        <p:spPr>
          <a:xfrm flipH="1" rot="10800000">
            <a:off x="1527370" y="4028098"/>
            <a:ext cx="1553400" cy="83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5"/>
          <p:cNvSpPr txBox="1"/>
          <p:nvPr>
            <p:ph type="ctrTitle"/>
          </p:nvPr>
        </p:nvSpPr>
        <p:spPr>
          <a:xfrm>
            <a:off x="3172375" y="3769925"/>
            <a:ext cx="53001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Coming up…</a:t>
            </a:r>
            <a:endParaRPr sz="37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What is a Neural Network?</a:t>
            </a:r>
            <a:endParaRPr sz="4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