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99d2822132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99d282213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f192b8bea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f192b8be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f192b8bea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f192b8be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f192b8bea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f192b8be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f192b8bea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f192b8be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f192b8bea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f192b8be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f192b8bea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f192b8be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eb59b2ee2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eb59b2e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CC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474225" y="1875775"/>
            <a:ext cx="50505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dk2"/>
                </a:solidFill>
              </a:rPr>
              <a:t>What is Machine Learning?</a:t>
            </a:r>
            <a:endParaRPr sz="5100">
              <a:solidFill>
                <a:schemeClr val="dk2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950" y="2057100"/>
            <a:ext cx="2636949" cy="263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-76200"/>
            <a:ext cx="9144000" cy="273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type="ctrTitle"/>
          </p:nvPr>
        </p:nvSpPr>
        <p:spPr>
          <a:xfrm>
            <a:off x="850150" y="2206400"/>
            <a:ext cx="59769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</a:rPr>
              <a:t>What is a Machine Learning Algorithm?</a:t>
            </a:r>
            <a:endParaRPr sz="3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An algorithm that can learn from data</a:t>
            </a:r>
            <a:endParaRPr sz="2900">
              <a:solidFill>
                <a:schemeClr val="dk2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3250" y="389675"/>
            <a:ext cx="3434301" cy="23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0" y="-76200"/>
            <a:ext cx="9144000" cy="193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type="ctrTitle"/>
          </p:nvPr>
        </p:nvSpPr>
        <p:spPr>
          <a:xfrm>
            <a:off x="850150" y="20540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</a:rPr>
              <a:t>Machine Learning Seeks to Answer...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How can we build computer systems that automatically improve with experience?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What are the laws that govern all learning processes?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-76200"/>
            <a:ext cx="9144000" cy="14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type="ctrTitle"/>
          </p:nvPr>
        </p:nvSpPr>
        <p:spPr>
          <a:xfrm>
            <a:off x="850150" y="22826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2"/>
                </a:solidFill>
              </a:rPr>
              <a:t>Examples of Machine Learning </a:t>
            </a:r>
            <a:endParaRPr sz="2700">
              <a:solidFill>
                <a:schemeClr val="dk2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</a:pPr>
            <a:r>
              <a:rPr lang="en" sz="2700">
                <a:solidFill>
                  <a:schemeClr val="dk2"/>
                </a:solidFill>
              </a:rPr>
              <a:t>Data mine historical medical records to learn which treatment you will best respond to</a:t>
            </a:r>
            <a:endParaRPr sz="2700">
              <a:solidFill>
                <a:schemeClr val="dk2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700"/>
              <a:buChar char="●"/>
            </a:pPr>
            <a:r>
              <a:rPr lang="en" sz="2700">
                <a:solidFill>
                  <a:schemeClr val="dk2"/>
                </a:solidFill>
              </a:rPr>
              <a:t>Build search engines that automatically customize to your interest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5403475" y="-76200"/>
            <a:ext cx="3740400" cy="636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ctrTitle"/>
          </p:nvPr>
        </p:nvSpPr>
        <p:spPr>
          <a:xfrm>
            <a:off x="850150" y="2282600"/>
            <a:ext cx="42840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2"/>
                </a:solidFill>
              </a:rPr>
              <a:t>Examples of Machine Learning </a:t>
            </a:r>
            <a:endParaRPr sz="2700">
              <a:solidFill>
                <a:schemeClr val="dk2"/>
              </a:solidFill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700"/>
              <a:buChar char="●"/>
            </a:pPr>
            <a:r>
              <a:rPr lang="en" sz="2700">
                <a:solidFill>
                  <a:schemeClr val="dk2"/>
                </a:solidFill>
              </a:rPr>
              <a:t>Design autonomous robots that learn to navigate from their own experience</a:t>
            </a:r>
            <a:endParaRPr sz="2700">
              <a:solidFill>
                <a:schemeClr val="dk2"/>
              </a:solidFill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942" y="0"/>
            <a:ext cx="260791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C3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0" y="0"/>
            <a:ext cx="9144000" cy="193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ctrTitle"/>
          </p:nvPr>
        </p:nvSpPr>
        <p:spPr>
          <a:xfrm>
            <a:off x="850150" y="22064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</a:rPr>
              <a:t>When should you use machine learning?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When the software is too complex to manually design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600"/>
              <a:buChar char="●"/>
            </a:pPr>
            <a:r>
              <a:rPr lang="en" sz="2600">
                <a:solidFill>
                  <a:schemeClr val="dk2"/>
                </a:solidFill>
              </a:rPr>
              <a:t>When the software should change after it is released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0" y="-112975"/>
            <a:ext cx="9144000" cy="219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type="ctrTitle"/>
          </p:nvPr>
        </p:nvSpPr>
        <p:spPr>
          <a:xfrm>
            <a:off x="850150" y="22064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3 Branches of Machine Learning</a:t>
            </a:r>
            <a:endParaRPr sz="3100">
              <a:solidFill>
                <a:schemeClr val="dk2"/>
              </a:solidFill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100"/>
              <a:buChar char="●"/>
            </a:pPr>
            <a:r>
              <a:rPr lang="en" sz="3100">
                <a:solidFill>
                  <a:schemeClr val="dk2"/>
                </a:solidFill>
              </a:rPr>
              <a:t>Supervised Learning</a:t>
            </a:r>
            <a:endParaRPr sz="3100">
              <a:solidFill>
                <a:schemeClr val="dk2"/>
              </a:solidFill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100"/>
              <a:buChar char="●"/>
            </a:pPr>
            <a:r>
              <a:rPr lang="en" sz="3100">
                <a:solidFill>
                  <a:schemeClr val="dk2"/>
                </a:solidFill>
              </a:rPr>
              <a:t>Unsupervised Learning</a:t>
            </a:r>
            <a:endParaRPr sz="3100">
              <a:solidFill>
                <a:schemeClr val="dk2"/>
              </a:solidFill>
            </a:endParaRPr>
          </a:p>
          <a:p>
            <a:pPr indent="-4254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3100"/>
              <a:buChar char="●"/>
            </a:pPr>
            <a:r>
              <a:rPr lang="en" sz="3100">
                <a:solidFill>
                  <a:schemeClr val="dk2"/>
                </a:solidFill>
              </a:rPr>
              <a:t>Reinforcement Learning</a:t>
            </a:r>
            <a:endParaRPr sz="31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0" y="2826950"/>
            <a:ext cx="9144000" cy="125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0" name="Google Shape;110;p20"/>
          <p:cNvSpPr/>
          <p:nvPr/>
        </p:nvSpPr>
        <p:spPr>
          <a:xfrm>
            <a:off x="0" y="0"/>
            <a:ext cx="9144000" cy="109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11" name="Google Shape;111;p20"/>
          <p:cNvSpPr txBox="1"/>
          <p:nvPr>
            <p:ph type="ctrTitle"/>
          </p:nvPr>
        </p:nvSpPr>
        <p:spPr>
          <a:xfrm>
            <a:off x="1078750" y="2206400"/>
            <a:ext cx="73824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Workflow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Gather Data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Preprocess Data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Train Data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Train Model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Test Model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Deploy Model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12" name="Google Shape;112;p20"/>
          <p:cNvSpPr txBox="1"/>
          <p:nvPr>
            <p:ph type="ctrTitle"/>
          </p:nvPr>
        </p:nvSpPr>
        <p:spPr>
          <a:xfrm>
            <a:off x="3705775" y="2562950"/>
            <a:ext cx="5176200" cy="14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model/parameter tuning loop</a:t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13" name="Google Shape;113;p20"/>
          <p:cNvSpPr/>
          <p:nvPr/>
        </p:nvSpPr>
        <p:spPr>
          <a:xfrm rot="10800000">
            <a:off x="630425" y="545400"/>
            <a:ext cx="333300" cy="4052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C3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type="ctrTitle"/>
          </p:nvPr>
        </p:nvSpPr>
        <p:spPr>
          <a:xfrm>
            <a:off x="474200" y="1182725"/>
            <a:ext cx="54216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dk2"/>
                </a:solidFill>
              </a:rPr>
              <a:t>What is Machine Learning? </a:t>
            </a:r>
            <a:r>
              <a:rPr lang="en" sz="5100">
                <a:solidFill>
                  <a:schemeClr val="dk2"/>
                </a:solidFill>
              </a:rPr>
              <a:t>✓ </a:t>
            </a:r>
            <a:endParaRPr sz="5100">
              <a:solidFill>
                <a:schemeClr val="dk2"/>
              </a:solidFill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950" y="2057100"/>
            <a:ext cx="2636949" cy="263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F3DB4C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3DB4C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