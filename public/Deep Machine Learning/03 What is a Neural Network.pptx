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bb2c14d16c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bb2c14d1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b0364f91b0_0_2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b0364f91b0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b0364f91b0_0_2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b0364f91b0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b0364f91b0_0_2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b0364f91b0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28d744f08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28d744f0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6c1e77be6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6c1e77b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0364f91b0_0_1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b0364f91b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928d744f08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928d744f0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28d744f08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28d744f0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928d744f08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928d744f0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28d744f08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28d744f0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b0364f91b0_0_2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b0364f91b0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b0364f91b0_0_2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b0364f91b0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b0364f91b0_0_2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b0364f91b0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b0364f91b0_0_2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b0364f91b0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bb2c14d16c_0_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bb2c14d16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3400975" y="3769925"/>
            <a:ext cx="53001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What is a Neural Network?</a:t>
            </a:r>
            <a:endParaRPr sz="45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9144000" cy="246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>
            <p:ph type="ctrTitle"/>
          </p:nvPr>
        </p:nvSpPr>
        <p:spPr>
          <a:xfrm>
            <a:off x="790275" y="2551300"/>
            <a:ext cx="75948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</a:rPr>
              <a:t>What is an </a:t>
            </a:r>
            <a:r>
              <a:rPr i="1" lang="en" sz="5000">
                <a:solidFill>
                  <a:srgbClr val="000000"/>
                </a:solidFill>
              </a:rPr>
              <a:t>artificial</a:t>
            </a:r>
            <a:r>
              <a:rPr lang="en" sz="5000">
                <a:solidFill>
                  <a:srgbClr val="000000"/>
                </a:solidFill>
              </a:rPr>
              <a:t> neural network?</a:t>
            </a:r>
            <a:endParaRPr sz="5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000000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900"/>
              <a:buChar char="●"/>
            </a:pPr>
            <a:r>
              <a:rPr lang="en" sz="2900">
                <a:solidFill>
                  <a:srgbClr val="000000"/>
                </a:solidFill>
              </a:rPr>
              <a:t>Machine learning framework</a:t>
            </a:r>
            <a:endParaRPr sz="2900">
              <a:solidFill>
                <a:srgbClr val="000000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Char char="●"/>
            </a:pPr>
            <a:r>
              <a:rPr lang="en" sz="2900">
                <a:solidFill>
                  <a:srgbClr val="000000"/>
                </a:solidFill>
              </a:rPr>
              <a:t>Mimics the learning pattern of the brain’s neural networks</a:t>
            </a:r>
            <a:endParaRPr sz="2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>
            <p:ph type="ctrTitle"/>
          </p:nvPr>
        </p:nvSpPr>
        <p:spPr>
          <a:xfrm>
            <a:off x="774600" y="-447000"/>
            <a:ext cx="75948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0">
                <a:solidFill>
                  <a:srgbClr val="000000"/>
                </a:solidFill>
              </a:rPr>
              <a:t>What is a </a:t>
            </a:r>
            <a:r>
              <a:rPr i="1" lang="en" sz="3900">
                <a:solidFill>
                  <a:srgbClr val="000000"/>
                </a:solidFill>
              </a:rPr>
              <a:t>natural</a:t>
            </a:r>
            <a:r>
              <a:rPr lang="en" sz="5000">
                <a:solidFill>
                  <a:srgbClr val="000000"/>
                </a:solidFill>
              </a:rPr>
              <a:t> neural network?</a:t>
            </a:r>
            <a:endParaRPr sz="2900">
              <a:solidFill>
                <a:srgbClr val="000000"/>
              </a:solidFill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200" y="1899475"/>
            <a:ext cx="6624998" cy="331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0"/>
            <a:ext cx="9144000" cy="166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>
            <p:ph type="ctrTitle"/>
          </p:nvPr>
        </p:nvSpPr>
        <p:spPr>
          <a:xfrm>
            <a:off x="673350" y="2389075"/>
            <a:ext cx="77973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000000"/>
                </a:solidFill>
              </a:rPr>
              <a:t>What is a </a:t>
            </a:r>
            <a:r>
              <a:rPr i="1" lang="en" sz="3900">
                <a:solidFill>
                  <a:srgbClr val="000000"/>
                </a:solidFill>
              </a:rPr>
              <a:t>natural</a:t>
            </a:r>
            <a:r>
              <a:rPr lang="en" sz="3900">
                <a:solidFill>
                  <a:srgbClr val="000000"/>
                </a:solidFill>
              </a:rPr>
              <a:t> neural network?</a:t>
            </a:r>
            <a:endParaRPr sz="3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●"/>
            </a:pPr>
            <a:r>
              <a:rPr lang="en" sz="2800">
                <a:solidFill>
                  <a:srgbClr val="000000"/>
                </a:solidFill>
              </a:rPr>
              <a:t>Interconnected neurons that receive inputs</a:t>
            </a:r>
            <a:endParaRPr sz="2800"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●"/>
            </a:pPr>
            <a:r>
              <a:rPr lang="en" sz="2800">
                <a:solidFill>
                  <a:srgbClr val="000000"/>
                </a:solidFill>
              </a:rPr>
              <a:t>Produce output signal through an axon to another neuron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ctrTitle"/>
          </p:nvPr>
        </p:nvSpPr>
        <p:spPr>
          <a:xfrm>
            <a:off x="794850" y="2319975"/>
            <a:ext cx="75543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000000"/>
                </a:solidFill>
              </a:rPr>
              <a:t>How do you </a:t>
            </a:r>
            <a:r>
              <a:rPr i="1" lang="en" sz="3800">
                <a:solidFill>
                  <a:srgbClr val="000000"/>
                </a:solidFill>
              </a:rPr>
              <a:t>build</a:t>
            </a:r>
            <a:r>
              <a:rPr lang="en" sz="3800">
                <a:solidFill>
                  <a:srgbClr val="000000"/>
                </a:solidFill>
              </a:rPr>
              <a:t> a neural network?</a:t>
            </a:r>
            <a:endParaRPr sz="3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000000"/>
              </a:solidFill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300"/>
              <a:buChar char="●"/>
            </a:pPr>
            <a:r>
              <a:rPr lang="en" sz="3300">
                <a:solidFill>
                  <a:srgbClr val="000000"/>
                </a:solidFill>
              </a:rPr>
              <a:t>Input layer takes in feature inputs</a:t>
            </a:r>
            <a:endParaRPr sz="3300">
              <a:solidFill>
                <a:srgbClr val="000000"/>
              </a:solidFill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Char char="●"/>
            </a:pPr>
            <a:r>
              <a:rPr lang="en" sz="3300">
                <a:solidFill>
                  <a:srgbClr val="000000"/>
                </a:solidFill>
              </a:rPr>
              <a:t>Add hidden layers </a:t>
            </a:r>
            <a:endParaRPr sz="3300">
              <a:solidFill>
                <a:srgbClr val="000000"/>
              </a:solidFill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Char char="●"/>
            </a:pPr>
            <a:r>
              <a:rPr lang="en" sz="3300">
                <a:solidFill>
                  <a:srgbClr val="000000"/>
                </a:solidFill>
              </a:rPr>
              <a:t>Output layer makes outputs</a:t>
            </a:r>
            <a:endParaRPr sz="3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6433250" y="1093300"/>
            <a:ext cx="1755900" cy="3710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2522350" y="1093300"/>
            <a:ext cx="1755900" cy="3710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4477800" y="1093300"/>
            <a:ext cx="1755900" cy="3710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566900" y="1093300"/>
            <a:ext cx="1755900" cy="3710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type="ctrTitle"/>
          </p:nvPr>
        </p:nvSpPr>
        <p:spPr>
          <a:xfrm>
            <a:off x="728600" y="3616500"/>
            <a:ext cx="7636200" cy="13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3400"/>
              <a:t>Input       hidden     hidden     output</a:t>
            </a:r>
            <a:endParaRPr sz="2900"/>
          </a:p>
        </p:txBody>
      </p:sp>
      <p:sp>
        <p:nvSpPr>
          <p:cNvPr id="101" name="Google Shape;101;p18"/>
          <p:cNvSpPr/>
          <p:nvPr/>
        </p:nvSpPr>
        <p:spPr>
          <a:xfrm>
            <a:off x="1120748" y="1776676"/>
            <a:ext cx="630900" cy="630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3122948" y="1403401"/>
            <a:ext cx="630900" cy="630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3122948" y="2141101"/>
            <a:ext cx="630900" cy="630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3122948" y="2878801"/>
            <a:ext cx="630900" cy="630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5048948" y="1403401"/>
            <a:ext cx="630900" cy="630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5048948" y="2141101"/>
            <a:ext cx="630900" cy="630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5048948" y="2878801"/>
            <a:ext cx="630900" cy="630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6957648" y="2141101"/>
            <a:ext cx="630900" cy="630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 txBox="1"/>
          <p:nvPr>
            <p:ph type="ctrTitle"/>
          </p:nvPr>
        </p:nvSpPr>
        <p:spPr>
          <a:xfrm>
            <a:off x="3449050" y="-3600"/>
            <a:ext cx="2378400" cy="13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3400">
                <a:solidFill>
                  <a:schemeClr val="dk2"/>
                </a:solidFill>
              </a:rPr>
              <a:t>Layers</a:t>
            </a:r>
            <a:endParaRPr sz="2900">
              <a:solidFill>
                <a:schemeClr val="dk2"/>
              </a:solidFill>
            </a:endParaRPr>
          </a:p>
        </p:txBody>
      </p:sp>
      <p:cxnSp>
        <p:nvCxnSpPr>
          <p:cNvPr id="110" name="Google Shape;110;p18"/>
          <p:cNvCxnSpPr>
            <a:endCxn id="102" idx="2"/>
          </p:cNvCxnSpPr>
          <p:nvPr/>
        </p:nvCxnSpPr>
        <p:spPr>
          <a:xfrm flipH="1" rot="10800000">
            <a:off x="1751648" y="1718851"/>
            <a:ext cx="1371300" cy="315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8"/>
          <p:cNvCxnSpPr>
            <a:endCxn id="103" idx="2"/>
          </p:cNvCxnSpPr>
          <p:nvPr/>
        </p:nvCxnSpPr>
        <p:spPr>
          <a:xfrm>
            <a:off x="1751648" y="2034451"/>
            <a:ext cx="1371300" cy="422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8"/>
          <p:cNvCxnSpPr>
            <a:endCxn id="104" idx="2"/>
          </p:cNvCxnSpPr>
          <p:nvPr/>
        </p:nvCxnSpPr>
        <p:spPr>
          <a:xfrm>
            <a:off x="1751648" y="2063251"/>
            <a:ext cx="1371300" cy="1131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8"/>
          <p:cNvCxnSpPr>
            <a:endCxn id="108" idx="2"/>
          </p:cNvCxnSpPr>
          <p:nvPr/>
        </p:nvCxnSpPr>
        <p:spPr>
          <a:xfrm>
            <a:off x="5679948" y="1718851"/>
            <a:ext cx="1277700" cy="737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8"/>
          <p:cNvCxnSpPr>
            <a:endCxn id="108" idx="2"/>
          </p:cNvCxnSpPr>
          <p:nvPr/>
        </p:nvCxnSpPr>
        <p:spPr>
          <a:xfrm>
            <a:off x="5679948" y="2407651"/>
            <a:ext cx="1277700" cy="48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8"/>
          <p:cNvCxnSpPr>
            <a:endCxn id="108" idx="2"/>
          </p:cNvCxnSpPr>
          <p:nvPr/>
        </p:nvCxnSpPr>
        <p:spPr>
          <a:xfrm flipH="1" rot="10800000">
            <a:off x="5679948" y="2456551"/>
            <a:ext cx="1277700" cy="713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8"/>
          <p:cNvCxnSpPr>
            <a:endCxn id="105" idx="2"/>
          </p:cNvCxnSpPr>
          <p:nvPr/>
        </p:nvCxnSpPr>
        <p:spPr>
          <a:xfrm flipH="1" rot="10800000">
            <a:off x="3753848" y="1718851"/>
            <a:ext cx="1295100" cy="1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8"/>
          <p:cNvCxnSpPr>
            <a:endCxn id="106" idx="2"/>
          </p:cNvCxnSpPr>
          <p:nvPr/>
        </p:nvCxnSpPr>
        <p:spPr>
          <a:xfrm>
            <a:off x="3753848" y="1835551"/>
            <a:ext cx="1295100" cy="621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8"/>
          <p:cNvCxnSpPr>
            <a:endCxn id="107" idx="2"/>
          </p:cNvCxnSpPr>
          <p:nvPr/>
        </p:nvCxnSpPr>
        <p:spPr>
          <a:xfrm>
            <a:off x="3753848" y="1872751"/>
            <a:ext cx="1295100" cy="1321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8"/>
          <p:cNvCxnSpPr>
            <a:endCxn id="105" idx="2"/>
          </p:cNvCxnSpPr>
          <p:nvPr/>
        </p:nvCxnSpPr>
        <p:spPr>
          <a:xfrm flipH="1" rot="10800000">
            <a:off x="3753848" y="1718851"/>
            <a:ext cx="1295100" cy="732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8"/>
          <p:cNvCxnSpPr>
            <a:endCxn id="107" idx="2"/>
          </p:cNvCxnSpPr>
          <p:nvPr/>
        </p:nvCxnSpPr>
        <p:spPr>
          <a:xfrm>
            <a:off x="3753848" y="2451751"/>
            <a:ext cx="1295100" cy="742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8"/>
          <p:cNvCxnSpPr>
            <a:endCxn id="106" idx="2"/>
          </p:cNvCxnSpPr>
          <p:nvPr/>
        </p:nvCxnSpPr>
        <p:spPr>
          <a:xfrm flipH="1" rot="10800000">
            <a:off x="3753848" y="2456551"/>
            <a:ext cx="1295100" cy="3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8"/>
          <p:cNvCxnSpPr>
            <a:endCxn id="106" idx="2"/>
          </p:cNvCxnSpPr>
          <p:nvPr/>
        </p:nvCxnSpPr>
        <p:spPr>
          <a:xfrm flipH="1" rot="10800000">
            <a:off x="3753848" y="2456551"/>
            <a:ext cx="1295100" cy="770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8"/>
          <p:cNvCxnSpPr>
            <a:endCxn id="105" idx="2"/>
          </p:cNvCxnSpPr>
          <p:nvPr/>
        </p:nvCxnSpPr>
        <p:spPr>
          <a:xfrm flipH="1" rot="10800000">
            <a:off x="3753848" y="1718851"/>
            <a:ext cx="1295100" cy="1507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8"/>
          <p:cNvCxnSpPr>
            <a:endCxn id="107" idx="2"/>
          </p:cNvCxnSpPr>
          <p:nvPr/>
        </p:nvCxnSpPr>
        <p:spPr>
          <a:xfrm flipH="1" rot="10800000">
            <a:off x="3753848" y="3194251"/>
            <a:ext cx="1295100" cy="6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0" y="-152400"/>
            <a:ext cx="9188700" cy="177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>
            <p:ph type="ctrTitle"/>
          </p:nvPr>
        </p:nvSpPr>
        <p:spPr>
          <a:xfrm>
            <a:off x="790275" y="2322700"/>
            <a:ext cx="75948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solidFill>
                  <a:srgbClr val="000000"/>
                </a:solidFill>
              </a:rPr>
              <a:t>What is a neuron?</a:t>
            </a:r>
            <a:endParaRPr sz="51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Calculates weighted sum of inputs from predecessor neuron</a:t>
            </a:r>
            <a:endParaRPr sz="30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Applies an activation function to produce its output</a:t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0030" y="33563"/>
            <a:ext cx="2361624" cy="140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/>
          <p:nvPr/>
        </p:nvSpPr>
        <p:spPr>
          <a:xfrm>
            <a:off x="0" y="0"/>
            <a:ext cx="9144000" cy="174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 txBox="1"/>
          <p:nvPr>
            <p:ph type="ctrTitle"/>
          </p:nvPr>
        </p:nvSpPr>
        <p:spPr>
          <a:xfrm>
            <a:off x="726000" y="2303525"/>
            <a:ext cx="75900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000000"/>
                </a:solidFill>
              </a:rPr>
              <a:t>How do you </a:t>
            </a:r>
            <a:r>
              <a:rPr i="1" lang="en" sz="4200">
                <a:solidFill>
                  <a:srgbClr val="000000"/>
                </a:solidFill>
              </a:rPr>
              <a:t>build</a:t>
            </a:r>
            <a:r>
              <a:rPr lang="en" sz="4200">
                <a:solidFill>
                  <a:srgbClr val="000000"/>
                </a:solidFill>
              </a:rPr>
              <a:t> the layers?</a:t>
            </a:r>
            <a:endParaRPr sz="4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  <a:p>
            <a:pPr indent="-450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500"/>
              <a:buChar char="●"/>
            </a:pPr>
            <a:r>
              <a:rPr lang="en" sz="3500">
                <a:solidFill>
                  <a:srgbClr val="000000"/>
                </a:solidFill>
              </a:rPr>
              <a:t>Start with 1 </a:t>
            </a:r>
            <a:r>
              <a:rPr i="1" lang="en" sz="3500">
                <a:solidFill>
                  <a:srgbClr val="000000"/>
                </a:solidFill>
              </a:rPr>
              <a:t>perceptron</a:t>
            </a:r>
            <a:endParaRPr i="1" sz="3500">
              <a:solidFill>
                <a:srgbClr val="000000"/>
              </a:solidFill>
            </a:endParaRPr>
          </a:p>
          <a:p>
            <a:pPr indent="-450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Char char="●"/>
            </a:pPr>
            <a:r>
              <a:rPr lang="en" sz="3500">
                <a:solidFill>
                  <a:srgbClr val="000000"/>
                </a:solidFill>
              </a:rPr>
              <a:t>Add layers of perceptrons together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0" y="0"/>
            <a:ext cx="9144000" cy="145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>
            <p:ph type="ctrTitle"/>
          </p:nvPr>
        </p:nvSpPr>
        <p:spPr>
          <a:xfrm>
            <a:off x="890325" y="2200900"/>
            <a:ext cx="72372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</a:rPr>
              <a:t>What is a perceptron?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aleway"/>
              <a:buAutoNum type="arabicPeriod"/>
            </a:pPr>
            <a:r>
              <a:rPr lang="en" sz="2200">
                <a:solidFill>
                  <a:srgbClr val="000000"/>
                </a:solidFill>
              </a:rPr>
              <a:t>Receives inputs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aleway"/>
              <a:buAutoNum type="arabicPeriod"/>
            </a:pPr>
            <a:r>
              <a:rPr lang="en" sz="2200">
                <a:solidFill>
                  <a:srgbClr val="000000"/>
                </a:solidFill>
              </a:rPr>
              <a:t>Multiplies inputs by a random weight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aleway"/>
              <a:buAutoNum type="arabicPeriod"/>
            </a:pPr>
            <a:r>
              <a:rPr lang="en" sz="2200">
                <a:solidFill>
                  <a:srgbClr val="000000"/>
                </a:solidFill>
              </a:rPr>
              <a:t>Adds a bias to account for inputs of 0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aleway"/>
              <a:buAutoNum type="arabicPeriod"/>
            </a:pPr>
            <a:r>
              <a:rPr lang="en" sz="2200">
                <a:solidFill>
                  <a:srgbClr val="000000"/>
                </a:solidFill>
              </a:rPr>
              <a:t>Passes inputs to an activation function to produce an output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/>
          <p:nvPr/>
        </p:nvSpPr>
        <p:spPr>
          <a:xfrm>
            <a:off x="0" y="0"/>
            <a:ext cx="9144000" cy="162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 txBox="1"/>
          <p:nvPr>
            <p:ph type="ctrTitle"/>
          </p:nvPr>
        </p:nvSpPr>
        <p:spPr>
          <a:xfrm>
            <a:off x="890325" y="2353300"/>
            <a:ext cx="72372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00000"/>
                </a:solidFill>
              </a:rPr>
              <a:t>What do you do with the output?</a:t>
            </a:r>
            <a:endParaRPr sz="3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aleway"/>
              <a:buAutoNum type="arabicPeriod"/>
            </a:pPr>
            <a:r>
              <a:rPr lang="en" sz="2600">
                <a:solidFill>
                  <a:srgbClr val="000000"/>
                </a:solidFill>
              </a:rPr>
              <a:t>Compare the output to a known label</a:t>
            </a:r>
            <a:endParaRPr sz="2600">
              <a:solidFill>
                <a:srgbClr val="000000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aleway"/>
              <a:buAutoNum type="arabicPeriod"/>
            </a:pPr>
            <a:r>
              <a:rPr lang="en" sz="2600">
                <a:solidFill>
                  <a:srgbClr val="000000"/>
                </a:solidFill>
              </a:rPr>
              <a:t>Adjust weight accordingly</a:t>
            </a:r>
            <a:endParaRPr sz="2600">
              <a:solidFill>
                <a:srgbClr val="000000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600"/>
              <a:buFont typeface="Raleway"/>
              <a:buAutoNum type="arabicPeriod"/>
            </a:pPr>
            <a:r>
              <a:rPr lang="en" sz="2600">
                <a:solidFill>
                  <a:srgbClr val="000000"/>
                </a:solidFill>
              </a:rPr>
              <a:t>Repeat until there are no more allowed iterations or the error rate is acceptable</a:t>
            </a:r>
            <a:endParaRPr sz="2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>
            <a:off x="0" y="0"/>
            <a:ext cx="9144000" cy="163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>
            <p:ph type="ctrTitle"/>
          </p:nvPr>
        </p:nvSpPr>
        <p:spPr>
          <a:xfrm>
            <a:off x="890325" y="2429500"/>
            <a:ext cx="72372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</a:rPr>
              <a:t>How do you build a perceptron?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At least 1 input</a:t>
            </a:r>
            <a:endParaRPr sz="30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Bias</a:t>
            </a:r>
            <a:endParaRPr sz="30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Activation function</a:t>
            </a:r>
            <a:endParaRPr sz="30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1 output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>
            <a:off x="0" y="-228600"/>
            <a:ext cx="9144000" cy="247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"/>
          <p:cNvSpPr txBox="1"/>
          <p:nvPr>
            <p:ph type="ctrTitle"/>
          </p:nvPr>
        </p:nvSpPr>
        <p:spPr>
          <a:xfrm>
            <a:off x="794850" y="2319975"/>
            <a:ext cx="75543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000000"/>
                </a:solidFill>
              </a:rPr>
              <a:t>Types of neural networks</a:t>
            </a:r>
            <a:endParaRPr sz="4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aleway"/>
              <a:buChar char="●"/>
            </a:pPr>
            <a:r>
              <a:rPr lang="en" sz="2600">
                <a:solidFill>
                  <a:srgbClr val="000000"/>
                </a:solidFill>
              </a:rPr>
              <a:t>Feedforward (NN)</a:t>
            </a:r>
            <a:endParaRPr sz="2600">
              <a:solidFill>
                <a:srgbClr val="000000"/>
              </a:solidFill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aleway"/>
              <a:buChar char="○"/>
            </a:pPr>
            <a:r>
              <a:rPr lang="en" sz="2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Connections only in 1 direction</a:t>
            </a:r>
            <a:endParaRPr sz="2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/>
          <p:nvPr/>
        </p:nvSpPr>
        <p:spPr>
          <a:xfrm>
            <a:off x="0" y="-228600"/>
            <a:ext cx="9144000" cy="24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 txBox="1"/>
          <p:nvPr>
            <p:ph type="ctrTitle"/>
          </p:nvPr>
        </p:nvSpPr>
        <p:spPr>
          <a:xfrm>
            <a:off x="794850" y="1862775"/>
            <a:ext cx="57099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000000"/>
                </a:solidFill>
              </a:rPr>
              <a:t>Types of neural networks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aleway"/>
              <a:buChar char="●"/>
            </a:pPr>
            <a:r>
              <a:rPr lang="en" sz="2500">
                <a:solidFill>
                  <a:srgbClr val="000000"/>
                </a:solidFill>
              </a:rPr>
              <a:t>Convolutional (CNN)</a:t>
            </a:r>
            <a:endParaRPr sz="2500">
              <a:solidFill>
                <a:srgbClr val="000000"/>
              </a:solidFill>
            </a:endParaRPr>
          </a:p>
          <a:p>
            <a:pPr indent="-3873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aleway"/>
              <a:buChar char="○"/>
            </a:pPr>
            <a:r>
              <a:rPr lang="en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Takes adjacency into account</a:t>
            </a:r>
            <a:endParaRPr sz="2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73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aleway"/>
              <a:buChar char="○"/>
            </a:pPr>
            <a:r>
              <a:rPr lang="en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Grid topology data (images)</a:t>
            </a:r>
            <a:endParaRPr sz="2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8" name="Google Shape;168;p25"/>
          <p:cNvPicPr preferRelativeResize="0"/>
          <p:nvPr/>
        </p:nvPicPr>
        <p:blipFill rotWithShape="1">
          <a:blip r:embed="rId3">
            <a:alphaModFix/>
          </a:blip>
          <a:srcRect b="16731" l="12975" r="4222" t="4085"/>
          <a:stretch/>
        </p:blipFill>
        <p:spPr>
          <a:xfrm>
            <a:off x="6718526" y="138562"/>
            <a:ext cx="1811575" cy="182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/>
          <p:nvPr/>
        </p:nvSpPr>
        <p:spPr>
          <a:xfrm>
            <a:off x="0" y="-228600"/>
            <a:ext cx="9144000" cy="250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6"/>
          <p:cNvSpPr txBox="1"/>
          <p:nvPr>
            <p:ph type="ctrTitle"/>
          </p:nvPr>
        </p:nvSpPr>
        <p:spPr>
          <a:xfrm>
            <a:off x="794850" y="2167575"/>
            <a:ext cx="75543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000000"/>
                </a:solidFill>
              </a:rPr>
              <a:t>Types of neural networks</a:t>
            </a:r>
            <a:endParaRPr sz="4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aleway"/>
              <a:buChar char="●"/>
            </a:pPr>
            <a:r>
              <a:rPr lang="en" sz="2500">
                <a:solidFill>
                  <a:srgbClr val="000000"/>
                </a:solidFill>
              </a:rPr>
              <a:t>Recurrent (RNN)</a:t>
            </a:r>
            <a:endParaRPr sz="2500">
              <a:solidFill>
                <a:srgbClr val="000000"/>
              </a:solidFill>
            </a:endParaRPr>
          </a:p>
          <a:p>
            <a:pPr indent="-3873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aleway"/>
              <a:buChar char="○"/>
            </a:pPr>
            <a:r>
              <a:rPr lang="en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Feeds outputs back into its own inputs</a:t>
            </a:r>
            <a:endParaRPr sz="2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73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aleway"/>
              <a:buChar char="○"/>
            </a:pPr>
            <a:r>
              <a:rPr lang="en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Sequential data (language)</a:t>
            </a:r>
            <a:endParaRPr sz="2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/>
          <p:nvPr/>
        </p:nvSpPr>
        <p:spPr>
          <a:xfrm>
            <a:off x="0" y="0"/>
            <a:ext cx="9144000" cy="21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7"/>
          <p:cNvSpPr txBox="1"/>
          <p:nvPr>
            <p:ph type="ctrTitle"/>
          </p:nvPr>
        </p:nvSpPr>
        <p:spPr>
          <a:xfrm>
            <a:off x="718650" y="2319975"/>
            <a:ext cx="7676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000000"/>
                </a:solidFill>
              </a:rPr>
              <a:t>Activation Function</a:t>
            </a:r>
            <a:endParaRPr sz="31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aleway"/>
              <a:buChar char="●"/>
            </a:pPr>
            <a:r>
              <a:rPr lang="en" sz="2000">
                <a:solidFill>
                  <a:srgbClr val="000000"/>
                </a:solidFill>
              </a:rPr>
              <a:t>Nonlinear function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Raleway"/>
              <a:buChar char="○"/>
            </a:pPr>
            <a:r>
              <a:rPr lang="en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Allows large networks of neurons to represent arbitrary functions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7922" y="121163"/>
            <a:ext cx="2575175" cy="185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4469" y="91975"/>
            <a:ext cx="2711275" cy="191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050" y="106313"/>
            <a:ext cx="2711275" cy="188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8"/>
          <p:cNvSpPr txBox="1"/>
          <p:nvPr>
            <p:ph type="ctrTitle"/>
          </p:nvPr>
        </p:nvSpPr>
        <p:spPr>
          <a:xfrm>
            <a:off x="3400975" y="3769925"/>
            <a:ext cx="53001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What is a Neural Network? ✓</a:t>
            </a:r>
            <a:endParaRPr sz="45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