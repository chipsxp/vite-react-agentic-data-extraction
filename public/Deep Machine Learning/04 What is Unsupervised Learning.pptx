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9d2822296_0_9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9d2822296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99d2822296_0_10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99d2822296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9d2822296_0_10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9d2822296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9d2822296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9d28222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9d2822296_0_4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9d282229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9d2822132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9d282213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9d2822296_0_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9d282229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99d2822296_0_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99d282229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d2822296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d282229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99d2822296_0_9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99d2822296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99d2822296_0_4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99d2822296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99d2822296_0_4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99d2822296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96c46cc3ad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96c46cc3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1D1D1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3553375" y="37699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2"/>
                </a:solidFill>
              </a:rPr>
              <a:t>What is Unsupervised Learning?</a:t>
            </a:r>
            <a:endParaRPr sz="4200" u="sng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926350" y="19778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100"/>
              <a:t>Applications</a:t>
            </a:r>
            <a:endParaRPr sz="3100"/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Recommend purchases or videos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Group customers based on attributes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Genetic and species grouping</a:t>
            </a:r>
            <a:endParaRPr sz="2500"/>
          </a:p>
          <a:p>
            <a:pPr indent="-3873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500"/>
              <a:buChar char="●"/>
            </a:pPr>
            <a:r>
              <a:rPr lang="en" sz="2500"/>
              <a:t>Distinguish different kinds of tissues</a:t>
            </a:r>
            <a:endParaRPr sz="2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926350" y="19778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200"/>
              <a:t>Applications </a:t>
            </a:r>
            <a:endParaRPr sz="3200"/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Make a customer persona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Will this customer buy Item B if they bought Item A?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600"/>
              <a:buChar char="●"/>
            </a:pPr>
            <a:r>
              <a:rPr lang="en" sz="2600"/>
              <a:t>Detect bot activity</a:t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926350" y="21302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/>
              <a:t>Applications </a:t>
            </a:r>
            <a:endParaRPr sz="29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Recognize handwriting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Recognize speech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Create speech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Tag parts of speech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300"/>
              <a:buChar char="●"/>
            </a:pPr>
            <a:r>
              <a:rPr lang="en" sz="2300"/>
              <a:t>Translate text</a:t>
            </a:r>
            <a:endParaRPr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926350" y="18254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/>
              <a:t>Machine Learning:</a:t>
            </a:r>
            <a:endParaRPr sz="33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/>
              <a:t>Supervised Learning </a:t>
            </a:r>
            <a:endParaRPr sz="3300"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>
                <a:highlight>
                  <a:schemeClr val="accent6"/>
                </a:highlight>
              </a:rPr>
              <a:t>Uns</a:t>
            </a:r>
            <a:r>
              <a:rPr lang="en" sz="3300">
                <a:highlight>
                  <a:schemeClr val="accent6"/>
                </a:highlight>
              </a:rPr>
              <a:t>upervised Learning </a:t>
            </a:r>
            <a:endParaRPr sz="3300">
              <a:highlight>
                <a:schemeClr val="accent6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300"/>
              <a:t>Reinforcement Learning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926350" y="19778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/>
              <a:t>Supervised Learning </a:t>
            </a:r>
            <a:endParaRPr sz="33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" sz="2700"/>
              <a:t>Type of machine learning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Learns a function to map an input to an output  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700"/>
              <a:buChar char="●"/>
            </a:pPr>
            <a:r>
              <a:rPr lang="en" sz="2700"/>
              <a:t>Uses sample input-output pairs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926350" y="19778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/>
              <a:t>Unsupervised Learning </a:t>
            </a:r>
            <a:endParaRPr sz="33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" sz="2700"/>
              <a:t>Type of machine learning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Raleway"/>
              <a:buChar char="●"/>
            </a:pPr>
            <a:r>
              <a:rPr lang="en" sz="2700"/>
              <a:t>Looks for new patterns in data with no pre-existing labels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700"/>
              <a:buChar char="●"/>
            </a:pPr>
            <a:r>
              <a:rPr lang="en" sz="2700"/>
              <a:t>Minimal human supervision</a:t>
            </a:r>
            <a:endParaRPr sz="2700"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56005" l="4931" r="78032" t="2747"/>
          <a:stretch/>
        </p:blipFill>
        <p:spPr>
          <a:xfrm>
            <a:off x="7426816" y="3305649"/>
            <a:ext cx="529315" cy="58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15360" l="5839" r="77123" t="43392"/>
          <a:stretch/>
        </p:blipFill>
        <p:spPr>
          <a:xfrm>
            <a:off x="7426815" y="3886508"/>
            <a:ext cx="529315" cy="58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53794" l="22463" r="60500" t="4957"/>
          <a:stretch/>
        </p:blipFill>
        <p:spPr>
          <a:xfrm>
            <a:off x="7956066" y="3305661"/>
            <a:ext cx="529315" cy="58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15360" l="22913" r="60050" t="43392"/>
          <a:stretch/>
        </p:blipFill>
        <p:spPr>
          <a:xfrm>
            <a:off x="7956072" y="3886497"/>
            <a:ext cx="529315" cy="58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ctrTitle"/>
          </p:nvPr>
        </p:nvSpPr>
        <p:spPr>
          <a:xfrm>
            <a:off x="926350" y="13682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/>
              <a:t>Uns</a:t>
            </a:r>
            <a:r>
              <a:rPr lang="en" sz="3300"/>
              <a:t>upervised Learning </a:t>
            </a:r>
            <a:endParaRPr sz="33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Raleway"/>
              <a:buAutoNum type="arabicPeriod"/>
            </a:pPr>
            <a:r>
              <a:rPr lang="en" sz="2700"/>
              <a:t>Principal component analysis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700"/>
              <a:buFont typeface="Raleway"/>
              <a:buAutoNum type="arabicPeriod"/>
            </a:pPr>
            <a:r>
              <a:rPr lang="en" sz="2700"/>
              <a:t>Cluster analysis</a:t>
            </a:r>
            <a:endParaRPr sz="2700"/>
          </a:p>
        </p:txBody>
      </p:sp>
      <p:cxnSp>
        <p:nvCxnSpPr>
          <p:cNvPr id="106" name="Google Shape;106;p20"/>
          <p:cNvCxnSpPr/>
          <p:nvPr/>
        </p:nvCxnSpPr>
        <p:spPr>
          <a:xfrm flipH="1" rot="10800000">
            <a:off x="6443328" y="602507"/>
            <a:ext cx="900" cy="10506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20"/>
          <p:cNvCxnSpPr/>
          <p:nvPr/>
        </p:nvCxnSpPr>
        <p:spPr>
          <a:xfrm>
            <a:off x="6442853" y="1662861"/>
            <a:ext cx="2275200" cy="14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20"/>
          <p:cNvSpPr/>
          <p:nvPr/>
        </p:nvSpPr>
        <p:spPr>
          <a:xfrm>
            <a:off x="7753448" y="5108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7785734" y="64188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7862022" y="56323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7978828" y="56726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8073887" y="55019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7504221" y="61281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6809325" y="13444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6661840" y="136371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6866754" y="117522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6719325" y="11684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6885111" y="130395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6914629" y="141904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7726822" y="62481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7759107" y="75584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7835396" y="67719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7952201" y="68122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8047261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8123041" y="75584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628758" y="53313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7661043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7737332" y="5855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7854138" y="58953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7949197" y="57246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8024978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6899284" y="129713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6751799" y="131642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747575" y="104649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809285" y="112111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765932" y="117522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7004588" y="137175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7062114" y="139171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6914629" y="14110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6910405" y="114107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7181252" y="129713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7137899" y="135124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7167417" y="146633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7351616" y="102539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6767822" y="109706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7409045" y="85619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7470754" y="93081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7427402" y="9849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6811473" y="107094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7441575" y="9781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857781" y="104977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7499004" y="80890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7560713" y="88352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7517361" y="93763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6901432" y="102365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958958" y="104361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811473" y="106291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7661834" y="90348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7723543" y="9781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7034744" y="100314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064262" y="111823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006786" y="84752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8039071" y="97855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8115360" y="89990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7795857" y="9563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7890916" y="93924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7291349" y="86116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980160" y="96149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7366998" y="106345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7413385" y="84409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769230" y="107026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7188941" y="88343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7264722" y="9751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7882096" y="8698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239033" y="83106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7990670" y="92217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8107476" y="9262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7766226" y="96151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7166658" y="88343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398053" y="101857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430339" y="11496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7476726" y="93024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7157222" y="98665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252282" y="96958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7328062" y="106127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7371427" y="113253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612849" y="13450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450099" y="104421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7805944" y="127038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225655" y="108354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301436" y="117523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7273363" y="104085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7305648" y="117187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7352036" y="95252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7498743" y="109725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7802940" y="116162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7203372" y="108354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0"/>
          <p:cNvCxnSpPr/>
          <p:nvPr/>
        </p:nvCxnSpPr>
        <p:spPr>
          <a:xfrm rot="10800000">
            <a:off x="7124930" y="664145"/>
            <a:ext cx="258600" cy="434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0"/>
          <p:cNvCxnSpPr/>
          <p:nvPr/>
        </p:nvCxnSpPr>
        <p:spPr>
          <a:xfrm flipH="1" rot="10800000">
            <a:off x="7387487" y="719939"/>
            <a:ext cx="544500" cy="38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 flipH="1" rot="10800000">
            <a:off x="6128084" y="3447839"/>
            <a:ext cx="600" cy="968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6127646" y="4424927"/>
            <a:ext cx="2096400" cy="132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0"/>
          <p:cNvSpPr/>
          <p:nvPr/>
        </p:nvSpPr>
        <p:spPr>
          <a:xfrm>
            <a:off x="6933266" y="341165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963016" y="3532390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7435354" y="341165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7140944" y="3463627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7228538" y="344790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7298366" y="3532390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465336" y="413149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329434" y="414927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518254" y="3975582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575116" y="404434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535169" y="40942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562369" y="420025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908731" y="351666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938480" y="363740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410818" y="351666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7116409" y="3568639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204002" y="35529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7273831" y="363740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818369" y="3432178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6848118" y="35529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320457" y="3432178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026047" y="348415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7113640" y="3468427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183469" y="35529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6548229" y="408792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6412328" y="410569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601148" y="393200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658010" y="400076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6618063" y="405062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6645262" y="415668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698270" y="4175072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6562369" y="419285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751189" y="4019158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6808051" y="408792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768104" y="413778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6795303" y="424383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562994" y="388578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6427092" y="390356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6615912" y="3729867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672775" y="379863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632827" y="384849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6660027" y="395454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6645888" y="38422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6509986" y="385998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6698806" y="368629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6755668" y="375505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6715721" y="380491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6742921" y="391096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6795928" y="3929357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6660027" y="394713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6848847" y="3773443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6905709" y="38422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6865762" y="389206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6892961" y="399811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7166707" y="372188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7196456" y="384262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7668794" y="372188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7374385" y="377385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7461978" y="375813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7531807" y="384262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7142171" y="382689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7171921" y="394763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7644259" y="382689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349849" y="3878871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7437443" y="38631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7507271" y="394763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7051810" y="374241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7081559" y="38631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7553897" y="374241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7259488" y="37943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7347081" y="377865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7416910" y="38631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7200537" y="39062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230286" y="402702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7702625" y="39062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7408215" y="395825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7495808" y="3942533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7565637" y="402702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7176001" y="401129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7205751" y="413203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7678089" y="401129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7383680" y="406326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7471273" y="40475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7541102" y="413203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7085640" y="392680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7115389" y="40475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7587727" y="392680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7293318" y="397878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7380911" y="396305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7450740" y="40475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21"/>
          <p:cNvCxnSpPr/>
          <p:nvPr/>
        </p:nvCxnSpPr>
        <p:spPr>
          <a:xfrm flipH="1" rot="10800000">
            <a:off x="1292372" y="916674"/>
            <a:ext cx="2400" cy="32520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1"/>
          <p:cNvCxnSpPr/>
          <p:nvPr/>
        </p:nvCxnSpPr>
        <p:spPr>
          <a:xfrm>
            <a:off x="1290900" y="4198869"/>
            <a:ext cx="7042800" cy="44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21"/>
          <p:cNvSpPr/>
          <p:nvPr/>
        </p:nvSpPr>
        <p:spPr>
          <a:xfrm>
            <a:off x="5347941" y="6327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5447882" y="10383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684039" y="7949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6045619" y="8073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6339882" y="7545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4576441" y="9484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2425341" y="32131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1968791" y="32728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2603116" y="26893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2146741" y="26682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2659941" y="30878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2751316" y="34441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265516" y="9855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5365457" y="13911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601614" y="11476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963194" y="11601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6257457" y="11073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6492041" y="13911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4961953" y="7017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61894" y="11073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5298052" y="8638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5659631" y="8763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5953894" y="8235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6188478" y="11073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2703816" y="30667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2247266" y="31264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2234191" y="22908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2425216" y="25218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2291016" y="26893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3029791" y="32977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3207866" y="33595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2751316" y="34192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2738241" y="25836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3576666" y="30667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442466" y="32342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3533841" y="35905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4104041" y="22255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2296866" y="24474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4281816" y="17017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4472841" y="19327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4338641" y="21002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2431991" y="23665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4382516" y="20791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2575341" y="23010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4560291" y="15553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4751316" y="17863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4617116" y="19538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2710466" y="22201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2888541" y="22819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2431991" y="23416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064341" y="18481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5255366" y="20791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3123141" y="21566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3214516" y="25129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6132166" y="16749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6232107" y="20805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6468264" y="18370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5479219" y="20116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5773482" y="19588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3917478" y="17171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6049741" y="20277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4151657" y="23433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4295252" y="16643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5396794" y="23644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3600469" y="17861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3835053" y="20699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5746178" y="17439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3755532" y="16239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6082277" y="19060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6443856" y="19185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5387494" y="20278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3531491" y="17861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4247791" y="22044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4347732" y="26100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4491327" y="19310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3502281" y="21056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3796544" y="20528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4031128" y="23366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4165366" y="25572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912707" y="32149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4408902" y="22838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5510444" y="29839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3714119" y="24055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3948703" y="26894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3861803" y="22734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3961744" y="26790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4105339" y="19999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4559481" y="24480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5501144" y="26472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3645141" y="24055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1"/>
          <p:cNvSpPr txBox="1"/>
          <p:nvPr>
            <p:ph type="ctrTitle"/>
          </p:nvPr>
        </p:nvSpPr>
        <p:spPr>
          <a:xfrm>
            <a:off x="3400700" y="4150050"/>
            <a:ext cx="17544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/>
              <a:t>Feature 1</a:t>
            </a:r>
            <a:endParaRPr sz="1500"/>
          </a:p>
        </p:txBody>
      </p:sp>
      <p:sp>
        <p:nvSpPr>
          <p:cNvPr id="389" name="Google Shape;389;p21"/>
          <p:cNvSpPr txBox="1"/>
          <p:nvPr>
            <p:ph type="ctrTitle"/>
          </p:nvPr>
        </p:nvSpPr>
        <p:spPr>
          <a:xfrm rot="-5400000">
            <a:off x="-80000" y="2244525"/>
            <a:ext cx="17544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/>
              <a:t>Feature 2</a:t>
            </a:r>
            <a:endParaRPr sz="1500"/>
          </a:p>
        </p:txBody>
      </p:sp>
      <p:cxnSp>
        <p:nvCxnSpPr>
          <p:cNvPr id="390" name="Google Shape;390;p21"/>
          <p:cNvCxnSpPr/>
          <p:nvPr/>
        </p:nvCxnSpPr>
        <p:spPr>
          <a:xfrm rot="10800000">
            <a:off x="3402733" y="1107696"/>
            <a:ext cx="800100" cy="13443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1"/>
          <p:cNvCxnSpPr/>
          <p:nvPr/>
        </p:nvCxnSpPr>
        <p:spPr>
          <a:xfrm flipH="1" rot="10800000">
            <a:off x="4215083" y="1280021"/>
            <a:ext cx="1685100" cy="1176600"/>
          </a:xfrm>
          <a:prstGeom prst="straightConnector1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21"/>
          <p:cNvSpPr txBox="1"/>
          <p:nvPr>
            <p:ph type="ctrTitle"/>
          </p:nvPr>
        </p:nvSpPr>
        <p:spPr>
          <a:xfrm>
            <a:off x="1505175" y="374275"/>
            <a:ext cx="30720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>
                <a:highlight>
                  <a:schemeClr val="accent3"/>
                </a:highlight>
              </a:rPr>
              <a:t>Principal component 1</a:t>
            </a:r>
            <a:endParaRPr sz="1500">
              <a:highlight>
                <a:schemeClr val="accent3"/>
              </a:highlight>
            </a:endParaRPr>
          </a:p>
        </p:txBody>
      </p:sp>
      <p:sp>
        <p:nvSpPr>
          <p:cNvPr id="393" name="Google Shape;393;p21"/>
          <p:cNvSpPr txBox="1"/>
          <p:nvPr>
            <p:ph type="ctrTitle"/>
          </p:nvPr>
        </p:nvSpPr>
        <p:spPr>
          <a:xfrm>
            <a:off x="4247788" y="2246113"/>
            <a:ext cx="30720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>
                <a:highlight>
                  <a:schemeClr val="accent5"/>
                </a:highlight>
              </a:rPr>
              <a:t>Principal component 2</a:t>
            </a:r>
            <a:endParaRPr sz="1500">
              <a:highlight>
                <a:schemeClr val="accent5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 txBox="1"/>
          <p:nvPr>
            <p:ph type="ctrTitle"/>
          </p:nvPr>
        </p:nvSpPr>
        <p:spPr>
          <a:xfrm>
            <a:off x="697750" y="2206400"/>
            <a:ext cx="79056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/>
              <a:t>Principal component </a:t>
            </a:r>
            <a:endParaRPr sz="29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/>
              <a:t>analysis</a:t>
            </a:r>
            <a:endParaRPr sz="29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Data is noisy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Dimensionality reduction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300"/>
              <a:buChar char="●"/>
            </a:pPr>
            <a:r>
              <a:rPr lang="en" sz="2300"/>
              <a:t>Get each data point’s first few important components </a:t>
            </a:r>
            <a:endParaRPr sz="2400"/>
          </a:p>
        </p:txBody>
      </p:sp>
      <p:cxnSp>
        <p:nvCxnSpPr>
          <p:cNvPr id="399" name="Google Shape;399;p22"/>
          <p:cNvCxnSpPr/>
          <p:nvPr/>
        </p:nvCxnSpPr>
        <p:spPr>
          <a:xfrm flipH="1" rot="10800000">
            <a:off x="5252398" y="650628"/>
            <a:ext cx="1500" cy="16005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5251674" y="2265989"/>
            <a:ext cx="3466500" cy="216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22"/>
          <p:cNvSpPr/>
          <p:nvPr/>
        </p:nvSpPr>
        <p:spPr>
          <a:xfrm>
            <a:off x="7248428" y="51084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7297616" y="71047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7413846" y="59064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7591805" y="59678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7736632" y="57078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6868719" y="66618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5810012" y="178083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5585311" y="181022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/>
          <p:cNvSpPr/>
          <p:nvPr/>
        </p:nvSpPr>
        <p:spPr>
          <a:xfrm>
            <a:off x="5897507" y="152304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2"/>
          <p:cNvSpPr/>
          <p:nvPr/>
        </p:nvSpPr>
        <p:spPr>
          <a:xfrm>
            <a:off x="5672893" y="151265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5925475" y="171917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5970447" y="189451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7207861" y="68447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7257049" y="88410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7373279" y="76426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7551238" y="77040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7696065" y="74440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7811520" y="88410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7058457" y="54478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7107645" y="74440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7223874" y="62457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7401833" y="63071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7546661" y="60471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7662116" y="74440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5947069" y="170878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5722368" y="173817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5715933" y="132691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5809950" y="144060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5743901" y="152304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6107504" y="182246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6195147" y="185287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5970447" y="188227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5964012" y="147101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6376660" y="170878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6310610" y="179122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6355582" y="196656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6636218" y="129477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5746780" y="140396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6723713" y="103698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6817730" y="115067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6751681" y="123311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5813285" y="136417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6773275" y="122272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5883837" y="133191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860770" y="96493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6954787" y="107862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6888738" y="116106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5950342" y="129212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6037985" y="132253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"/>
          <p:cNvSpPr/>
          <p:nvPr/>
        </p:nvSpPr>
        <p:spPr>
          <a:xfrm>
            <a:off x="5813285" y="135193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7108849" y="110903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7202866" y="122272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6153448" y="126087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6198420" y="143622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7634401" y="102378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"/>
          <p:cNvSpPr/>
          <p:nvPr/>
        </p:nvSpPr>
        <p:spPr>
          <a:xfrm>
            <a:off x="7683589" y="122341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"/>
          <p:cNvSpPr/>
          <p:nvPr/>
        </p:nvSpPr>
        <p:spPr>
          <a:xfrm>
            <a:off x="7799818" y="110357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7313040" y="118951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"/>
          <p:cNvSpPr/>
          <p:nvPr/>
        </p:nvSpPr>
        <p:spPr>
          <a:xfrm>
            <a:off x="7457867" y="116351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2"/>
          <p:cNvSpPr/>
          <p:nvPr/>
        </p:nvSpPr>
        <p:spPr>
          <a:xfrm>
            <a:off x="6544397" y="104455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7593833" y="119741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6659653" y="135275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2"/>
          <p:cNvSpPr/>
          <p:nvPr/>
        </p:nvSpPr>
        <p:spPr>
          <a:xfrm>
            <a:off x="6730326" y="101855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2"/>
          <p:cNvSpPr/>
          <p:nvPr/>
        </p:nvSpPr>
        <p:spPr>
          <a:xfrm>
            <a:off x="7272472" y="136314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6388375" y="107849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6503830" y="121818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7444429" y="105772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/>
          <p:nvPr/>
        </p:nvSpPr>
        <p:spPr>
          <a:xfrm>
            <a:off x="6464692" y="99869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7609847" y="113751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7787805" y="114365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7267895" y="119744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6354426" y="107849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6706967" y="128438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"/>
          <p:cNvSpPr/>
          <p:nvPr/>
        </p:nvSpPr>
        <p:spPr>
          <a:xfrm>
            <a:off x="6756155" y="1484012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2"/>
          <p:cNvSpPr/>
          <p:nvPr/>
        </p:nvSpPr>
        <p:spPr>
          <a:xfrm>
            <a:off x="6826828" y="114981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6340050" y="123574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"/>
          <p:cNvSpPr/>
          <p:nvPr/>
        </p:nvSpPr>
        <p:spPr>
          <a:xfrm>
            <a:off x="6484877" y="120974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6600332" y="1349439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6666400" y="145801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2"/>
          <p:cNvSpPr/>
          <p:nvPr/>
        </p:nvSpPr>
        <p:spPr>
          <a:xfrm>
            <a:off x="7034219" y="178171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2"/>
          <p:cNvSpPr/>
          <p:nvPr/>
        </p:nvSpPr>
        <p:spPr>
          <a:xfrm>
            <a:off x="6786261" y="1323440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7328408" y="1668024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6444310" y="138337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6559765" y="1523066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6516996" y="1318321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6566184" y="1517947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6636857" y="1183748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6860372" y="140425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7323831" y="1502333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410361" y="1383375"/>
            <a:ext cx="115500" cy="113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22"/>
          <p:cNvCxnSpPr/>
          <p:nvPr/>
        </p:nvCxnSpPr>
        <p:spPr>
          <a:xfrm rot="10800000">
            <a:off x="6290940" y="744422"/>
            <a:ext cx="393900" cy="661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22"/>
          <p:cNvCxnSpPr/>
          <p:nvPr/>
        </p:nvCxnSpPr>
        <p:spPr>
          <a:xfrm flipH="1" rot="10800000">
            <a:off x="6690869" y="829498"/>
            <a:ext cx="829500" cy="579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"/>
          <p:cNvSpPr txBox="1"/>
          <p:nvPr>
            <p:ph type="ctrTitle"/>
          </p:nvPr>
        </p:nvSpPr>
        <p:spPr>
          <a:xfrm>
            <a:off x="697750" y="19016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/>
              <a:t>Principal component analysis</a:t>
            </a:r>
            <a:endParaRPr sz="28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Get each data point’s first few important components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Creates lower-dimensional data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" sz="2200"/>
              <a:t>Preserves as much of the data's variation as possible</a:t>
            </a:r>
            <a:endParaRPr sz="2200"/>
          </a:p>
        </p:txBody>
      </p:sp>
      <p:cxnSp>
        <p:nvCxnSpPr>
          <p:cNvPr id="498" name="Google Shape;498;p23"/>
          <p:cNvCxnSpPr/>
          <p:nvPr/>
        </p:nvCxnSpPr>
        <p:spPr>
          <a:xfrm flipH="1" rot="10800000">
            <a:off x="6443328" y="602507"/>
            <a:ext cx="900" cy="10506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23"/>
          <p:cNvCxnSpPr/>
          <p:nvPr/>
        </p:nvCxnSpPr>
        <p:spPr>
          <a:xfrm>
            <a:off x="6442853" y="1662861"/>
            <a:ext cx="2275200" cy="14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23"/>
          <p:cNvSpPr/>
          <p:nvPr/>
        </p:nvSpPr>
        <p:spPr>
          <a:xfrm>
            <a:off x="7753448" y="5108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3"/>
          <p:cNvSpPr/>
          <p:nvPr/>
        </p:nvSpPr>
        <p:spPr>
          <a:xfrm>
            <a:off x="7785734" y="64188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/>
          <p:nvPr/>
        </p:nvSpPr>
        <p:spPr>
          <a:xfrm>
            <a:off x="7862022" y="56323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7978828" y="56726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8073887" y="55019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3"/>
          <p:cNvSpPr/>
          <p:nvPr/>
        </p:nvSpPr>
        <p:spPr>
          <a:xfrm>
            <a:off x="7504221" y="61281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6809325" y="13444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6661840" y="136371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6866754" y="117522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6719325" y="11684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6885111" y="130395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3"/>
          <p:cNvSpPr/>
          <p:nvPr/>
        </p:nvSpPr>
        <p:spPr>
          <a:xfrm>
            <a:off x="6914629" y="141904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7726822" y="62481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7759107" y="75584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7835396" y="67719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7952201" y="68122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8047261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"/>
          <p:cNvSpPr/>
          <p:nvPr/>
        </p:nvSpPr>
        <p:spPr>
          <a:xfrm>
            <a:off x="8123041" y="75584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3"/>
          <p:cNvSpPr/>
          <p:nvPr/>
        </p:nvSpPr>
        <p:spPr>
          <a:xfrm>
            <a:off x="7628758" y="53313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7661043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7737332" y="5855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7854138" y="58953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7949197" y="57246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8024978" y="66415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6899284" y="129713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6751799" y="131642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6747575" y="104649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6809285" y="112111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6765932" y="117522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7004588" y="137175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7062114" y="139171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3"/>
          <p:cNvSpPr/>
          <p:nvPr/>
        </p:nvSpPr>
        <p:spPr>
          <a:xfrm>
            <a:off x="6914629" y="14110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6910405" y="114107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7181252" y="129713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7137899" y="135124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7167417" y="146633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7351616" y="102539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6767822" y="109706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7409045" y="85619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7470754" y="93081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7427402" y="9849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6811473" y="107094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7441575" y="9781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6857781" y="104977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7499004" y="80890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7560713" y="88352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7517361" y="93763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6901432" y="102365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6958958" y="104361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6811473" y="106291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7661834" y="90348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7723543" y="9781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7034744" y="100314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>
            <a:off x="7064262" y="111823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8006786" y="84752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8039071" y="97855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8115360" y="89990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7795857" y="9563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7890916" y="93924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7291349" y="86116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7980160" y="96149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7366998" y="106345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7413385" y="84409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7769230" y="107026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7188941" y="88343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7264722" y="97512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"/>
          <p:cNvSpPr/>
          <p:nvPr/>
        </p:nvSpPr>
        <p:spPr>
          <a:xfrm>
            <a:off x="7882096" y="8698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3"/>
          <p:cNvSpPr/>
          <p:nvPr/>
        </p:nvSpPr>
        <p:spPr>
          <a:xfrm>
            <a:off x="7239033" y="83106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7990670" y="92217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8107476" y="926206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"/>
          <p:cNvSpPr/>
          <p:nvPr/>
        </p:nvSpPr>
        <p:spPr>
          <a:xfrm>
            <a:off x="7766226" y="96151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7166658" y="88343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7398053" y="101857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7430339" y="1149603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7476726" y="93024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7157222" y="98665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7252282" y="96958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7328062" y="1061275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7371427" y="113253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7612849" y="134500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7450099" y="104421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7805944" y="1270381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7225655" y="108354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7301436" y="117523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7273363" y="1040850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7305648" y="1171877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7352036" y="952522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7498743" y="1097254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7802940" y="1161628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7203372" y="1083549"/>
            <a:ext cx="75900" cy="7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0" name="Google Shape;590;p23"/>
          <p:cNvCxnSpPr/>
          <p:nvPr/>
        </p:nvCxnSpPr>
        <p:spPr>
          <a:xfrm rot="10800000">
            <a:off x="7124930" y="664145"/>
            <a:ext cx="258600" cy="434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23"/>
          <p:cNvCxnSpPr/>
          <p:nvPr/>
        </p:nvCxnSpPr>
        <p:spPr>
          <a:xfrm flipH="1" rot="10800000">
            <a:off x="7387487" y="719939"/>
            <a:ext cx="544500" cy="38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6" name="Google Shape;596;p24"/>
          <p:cNvCxnSpPr/>
          <p:nvPr/>
        </p:nvCxnSpPr>
        <p:spPr>
          <a:xfrm flipH="1" rot="10800000">
            <a:off x="1292372" y="1450074"/>
            <a:ext cx="2400" cy="32520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24"/>
          <p:cNvCxnSpPr/>
          <p:nvPr/>
        </p:nvCxnSpPr>
        <p:spPr>
          <a:xfrm>
            <a:off x="1290900" y="4732269"/>
            <a:ext cx="7042800" cy="44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24"/>
          <p:cNvSpPr/>
          <p:nvPr/>
        </p:nvSpPr>
        <p:spPr>
          <a:xfrm>
            <a:off x="3997316" y="132830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/>
          <p:nvPr/>
        </p:nvSpPr>
        <p:spPr>
          <a:xfrm>
            <a:off x="4097257" y="173390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5691039" y="101520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4694994" y="150290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4"/>
          <p:cNvSpPr/>
          <p:nvPr/>
        </p:nvSpPr>
        <p:spPr>
          <a:xfrm>
            <a:off x="4989257" y="14500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4"/>
          <p:cNvSpPr/>
          <p:nvPr/>
        </p:nvSpPr>
        <p:spPr>
          <a:xfrm>
            <a:off x="5223841" y="173390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4"/>
          <p:cNvSpPr/>
          <p:nvPr/>
        </p:nvSpPr>
        <p:spPr>
          <a:xfrm>
            <a:off x="2425341" y="37465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4"/>
          <p:cNvSpPr/>
          <p:nvPr/>
        </p:nvSpPr>
        <p:spPr>
          <a:xfrm>
            <a:off x="1968791" y="38062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2603116" y="32227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4"/>
          <p:cNvSpPr/>
          <p:nvPr/>
        </p:nvSpPr>
        <p:spPr>
          <a:xfrm>
            <a:off x="2794141" y="34537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"/>
          <p:cNvSpPr/>
          <p:nvPr/>
        </p:nvSpPr>
        <p:spPr>
          <a:xfrm>
            <a:off x="2659941" y="36212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4"/>
          <p:cNvSpPr/>
          <p:nvPr/>
        </p:nvSpPr>
        <p:spPr>
          <a:xfrm>
            <a:off x="2751316" y="39775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3914891" y="16810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4014832" y="20866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4"/>
          <p:cNvSpPr/>
          <p:nvPr/>
        </p:nvSpPr>
        <p:spPr>
          <a:xfrm>
            <a:off x="5601614" y="16810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4612569" y="18556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4"/>
          <p:cNvSpPr/>
          <p:nvPr/>
        </p:nvSpPr>
        <p:spPr>
          <a:xfrm>
            <a:off x="4906832" y="180285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5141416" y="20866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3442478" y="127907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3711269" y="180285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5298052" y="139725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4309006" y="157185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4603269" y="1519025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4837853" y="1802850"/>
            <a:ext cx="234600" cy="23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4"/>
          <p:cNvSpPr/>
          <p:nvPr/>
        </p:nvSpPr>
        <p:spPr>
          <a:xfrm>
            <a:off x="2703816" y="36001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2247266" y="36598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2881591" y="30763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3072616" y="33073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2938416" y="34748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3029791" y="38311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3207866" y="38929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2751316" y="39526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3385641" y="33691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3576666" y="36001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3442466" y="37676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3533841" y="41239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2753416" y="29210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1792816" y="288022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2931191" y="23973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3122216" y="26283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2988016" y="279580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3079391" y="31520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1509066" y="203383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2575341" y="28344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3209666" y="22509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3400691" y="24819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3266491" y="264941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3357866" y="3005675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3535941" y="3067463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"/>
          <p:cNvSpPr/>
          <p:nvPr/>
        </p:nvSpPr>
        <p:spPr>
          <a:xfrm>
            <a:off x="3079391" y="31271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3713716" y="25436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/>
          <p:nvPr/>
        </p:nvSpPr>
        <p:spPr>
          <a:xfrm>
            <a:off x="3904741" y="27746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3770541" y="2942188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3861916" y="3298450"/>
            <a:ext cx="234600" cy="23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4"/>
          <p:cNvSpPr/>
          <p:nvPr/>
        </p:nvSpPr>
        <p:spPr>
          <a:xfrm>
            <a:off x="4781541" y="237048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4"/>
          <p:cNvSpPr/>
          <p:nvPr/>
        </p:nvSpPr>
        <p:spPr>
          <a:xfrm>
            <a:off x="4881482" y="277608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6468264" y="237048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5479219" y="254508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5773482" y="24922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4"/>
          <p:cNvSpPr/>
          <p:nvPr/>
        </p:nvSpPr>
        <p:spPr>
          <a:xfrm>
            <a:off x="6008066" y="277608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4"/>
          <p:cNvSpPr/>
          <p:nvPr/>
        </p:nvSpPr>
        <p:spPr>
          <a:xfrm>
            <a:off x="4699116" y="27232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4"/>
          <p:cNvSpPr/>
          <p:nvPr/>
        </p:nvSpPr>
        <p:spPr>
          <a:xfrm>
            <a:off x="4799057" y="31288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/>
          <p:nvPr/>
        </p:nvSpPr>
        <p:spPr>
          <a:xfrm>
            <a:off x="6385839" y="27232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4"/>
          <p:cNvSpPr/>
          <p:nvPr/>
        </p:nvSpPr>
        <p:spPr>
          <a:xfrm>
            <a:off x="5396794" y="28978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5691057" y="28450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4"/>
          <p:cNvSpPr/>
          <p:nvPr/>
        </p:nvSpPr>
        <p:spPr>
          <a:xfrm>
            <a:off x="5925641" y="312886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"/>
          <p:cNvSpPr/>
          <p:nvPr/>
        </p:nvSpPr>
        <p:spPr>
          <a:xfrm>
            <a:off x="4395553" y="24394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"/>
          <p:cNvSpPr/>
          <p:nvPr/>
        </p:nvSpPr>
        <p:spPr>
          <a:xfrm>
            <a:off x="4495494" y="28450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4"/>
          <p:cNvSpPr/>
          <p:nvPr/>
        </p:nvSpPr>
        <p:spPr>
          <a:xfrm>
            <a:off x="6082277" y="24394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4"/>
          <p:cNvSpPr/>
          <p:nvPr/>
        </p:nvSpPr>
        <p:spPr>
          <a:xfrm>
            <a:off x="5093231" y="26140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4"/>
          <p:cNvSpPr/>
          <p:nvPr/>
        </p:nvSpPr>
        <p:spPr>
          <a:xfrm>
            <a:off x="5387494" y="2561213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5622078" y="2845038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4"/>
          <p:cNvSpPr/>
          <p:nvPr/>
        </p:nvSpPr>
        <p:spPr>
          <a:xfrm>
            <a:off x="4895191" y="29899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4"/>
          <p:cNvSpPr/>
          <p:nvPr/>
        </p:nvSpPr>
        <p:spPr>
          <a:xfrm>
            <a:off x="4995132" y="33955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4"/>
          <p:cNvSpPr/>
          <p:nvPr/>
        </p:nvSpPr>
        <p:spPr>
          <a:xfrm>
            <a:off x="6581914" y="29899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4"/>
          <p:cNvSpPr/>
          <p:nvPr/>
        </p:nvSpPr>
        <p:spPr>
          <a:xfrm>
            <a:off x="5592869" y="31645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4"/>
          <p:cNvSpPr/>
          <p:nvPr/>
        </p:nvSpPr>
        <p:spPr>
          <a:xfrm>
            <a:off x="5887132" y="311172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6121716" y="33955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4"/>
          <p:cNvSpPr/>
          <p:nvPr/>
        </p:nvSpPr>
        <p:spPr>
          <a:xfrm>
            <a:off x="4812766" y="334272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4"/>
          <p:cNvSpPr/>
          <p:nvPr/>
        </p:nvSpPr>
        <p:spPr>
          <a:xfrm>
            <a:off x="4912707" y="374832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4"/>
          <p:cNvSpPr/>
          <p:nvPr/>
        </p:nvSpPr>
        <p:spPr>
          <a:xfrm>
            <a:off x="6499489" y="334272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4"/>
          <p:cNvSpPr/>
          <p:nvPr/>
        </p:nvSpPr>
        <p:spPr>
          <a:xfrm>
            <a:off x="5510444" y="351732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4"/>
          <p:cNvSpPr/>
          <p:nvPr/>
        </p:nvSpPr>
        <p:spPr>
          <a:xfrm>
            <a:off x="5804707" y="34645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4"/>
          <p:cNvSpPr/>
          <p:nvPr/>
        </p:nvSpPr>
        <p:spPr>
          <a:xfrm>
            <a:off x="6242666" y="418365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/>
          <p:nvPr/>
        </p:nvSpPr>
        <p:spPr>
          <a:xfrm>
            <a:off x="4509203" y="30589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4"/>
          <p:cNvSpPr/>
          <p:nvPr/>
        </p:nvSpPr>
        <p:spPr>
          <a:xfrm>
            <a:off x="4609144" y="34645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4"/>
          <p:cNvSpPr/>
          <p:nvPr/>
        </p:nvSpPr>
        <p:spPr>
          <a:xfrm>
            <a:off x="6195927" y="30589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5147306" y="41239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4"/>
          <p:cNvSpPr/>
          <p:nvPr/>
        </p:nvSpPr>
        <p:spPr>
          <a:xfrm>
            <a:off x="5501144" y="3180675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4"/>
          <p:cNvSpPr/>
          <p:nvPr/>
        </p:nvSpPr>
        <p:spPr>
          <a:xfrm>
            <a:off x="5735728" y="3464500"/>
            <a:ext cx="234600" cy="23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4"/>
          <p:cNvSpPr txBox="1"/>
          <p:nvPr>
            <p:ph type="ctrTitle"/>
          </p:nvPr>
        </p:nvSpPr>
        <p:spPr>
          <a:xfrm>
            <a:off x="776925" y="277300"/>
            <a:ext cx="67947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/>
              <a:t>Cluster Analysis</a:t>
            </a:r>
            <a:endParaRPr sz="2700"/>
          </a:p>
        </p:txBody>
      </p:sp>
      <p:sp>
        <p:nvSpPr>
          <p:cNvPr id="689" name="Google Shape;689;p24"/>
          <p:cNvSpPr/>
          <p:nvPr/>
        </p:nvSpPr>
        <p:spPr>
          <a:xfrm>
            <a:off x="4565175" y="2323638"/>
            <a:ext cx="2348400" cy="1563300"/>
          </a:xfrm>
          <a:prstGeom prst="flowChartConnector">
            <a:avLst/>
          </a:prstGeom>
          <a:noFill/>
          <a:ln cap="flat" cmpd="sng" w="762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2573196" y="2492275"/>
            <a:ext cx="1552500" cy="1563300"/>
          </a:xfrm>
          <a:prstGeom prst="flowChartConnector">
            <a:avLst/>
          </a:prstGeom>
          <a:noFill/>
          <a:ln cap="flat" cmpd="sng" w="762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4"/>
          <p:cNvSpPr/>
          <p:nvPr/>
        </p:nvSpPr>
        <p:spPr>
          <a:xfrm>
            <a:off x="3508250" y="1263970"/>
            <a:ext cx="2348400" cy="987000"/>
          </a:xfrm>
          <a:prstGeom prst="flowChartConnector">
            <a:avLst/>
          </a:prstGeom>
          <a:noFill/>
          <a:ln cap="flat" cmpd="sng" w="762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"/>
          <p:cNvSpPr txBox="1"/>
          <p:nvPr>
            <p:ph type="ctrTitle"/>
          </p:nvPr>
        </p:nvSpPr>
        <p:spPr>
          <a:xfrm>
            <a:off x="926350" y="19778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/>
              <a:t>Cluster Analysis</a:t>
            </a:r>
            <a:endParaRPr sz="29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finds commonalities in data 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reacts based on presence or absence of the commonalities in every new input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300"/>
              <a:buChar char="●"/>
            </a:pPr>
            <a:r>
              <a:rPr lang="en" sz="2300"/>
              <a:t>helps detect data points that do not fit into any group</a:t>
            </a:r>
            <a:endParaRPr sz="2300"/>
          </a:p>
        </p:txBody>
      </p:sp>
      <p:cxnSp>
        <p:nvCxnSpPr>
          <p:cNvPr id="697" name="Google Shape;697;p25"/>
          <p:cNvCxnSpPr/>
          <p:nvPr/>
        </p:nvCxnSpPr>
        <p:spPr>
          <a:xfrm flipH="1" rot="10800000">
            <a:off x="6529459" y="729539"/>
            <a:ext cx="600" cy="9681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25"/>
          <p:cNvCxnSpPr/>
          <p:nvPr/>
        </p:nvCxnSpPr>
        <p:spPr>
          <a:xfrm>
            <a:off x="6529021" y="1706627"/>
            <a:ext cx="2096400" cy="132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25"/>
          <p:cNvSpPr/>
          <p:nvPr/>
        </p:nvSpPr>
        <p:spPr>
          <a:xfrm>
            <a:off x="7334641" y="69335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5"/>
          <p:cNvSpPr/>
          <p:nvPr/>
        </p:nvSpPr>
        <p:spPr>
          <a:xfrm>
            <a:off x="7364391" y="814090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5"/>
          <p:cNvSpPr/>
          <p:nvPr/>
        </p:nvSpPr>
        <p:spPr>
          <a:xfrm>
            <a:off x="7836729" y="69335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5"/>
          <p:cNvSpPr/>
          <p:nvPr/>
        </p:nvSpPr>
        <p:spPr>
          <a:xfrm>
            <a:off x="7542319" y="745327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5"/>
          <p:cNvSpPr/>
          <p:nvPr/>
        </p:nvSpPr>
        <p:spPr>
          <a:xfrm>
            <a:off x="7629913" y="729603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5"/>
          <p:cNvSpPr/>
          <p:nvPr/>
        </p:nvSpPr>
        <p:spPr>
          <a:xfrm>
            <a:off x="7699741" y="814090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5"/>
          <p:cNvSpPr/>
          <p:nvPr/>
        </p:nvSpPr>
        <p:spPr>
          <a:xfrm>
            <a:off x="6866711" y="141319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5"/>
          <p:cNvSpPr/>
          <p:nvPr/>
        </p:nvSpPr>
        <p:spPr>
          <a:xfrm>
            <a:off x="6730809" y="143097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5"/>
          <p:cNvSpPr/>
          <p:nvPr/>
        </p:nvSpPr>
        <p:spPr>
          <a:xfrm>
            <a:off x="6919629" y="1257282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"/>
          <p:cNvSpPr/>
          <p:nvPr/>
        </p:nvSpPr>
        <p:spPr>
          <a:xfrm>
            <a:off x="6976491" y="132604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5"/>
          <p:cNvSpPr/>
          <p:nvPr/>
        </p:nvSpPr>
        <p:spPr>
          <a:xfrm>
            <a:off x="6936544" y="13759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6963744" y="148195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5"/>
          <p:cNvSpPr/>
          <p:nvPr/>
        </p:nvSpPr>
        <p:spPr>
          <a:xfrm>
            <a:off x="7310106" y="79836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5"/>
          <p:cNvSpPr/>
          <p:nvPr/>
        </p:nvSpPr>
        <p:spPr>
          <a:xfrm>
            <a:off x="7339855" y="91910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5"/>
          <p:cNvSpPr/>
          <p:nvPr/>
        </p:nvSpPr>
        <p:spPr>
          <a:xfrm>
            <a:off x="7812193" y="79836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5"/>
          <p:cNvSpPr/>
          <p:nvPr/>
        </p:nvSpPr>
        <p:spPr>
          <a:xfrm>
            <a:off x="7517784" y="850339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5"/>
          <p:cNvSpPr/>
          <p:nvPr/>
        </p:nvSpPr>
        <p:spPr>
          <a:xfrm>
            <a:off x="7605377" y="8346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5"/>
          <p:cNvSpPr/>
          <p:nvPr/>
        </p:nvSpPr>
        <p:spPr>
          <a:xfrm>
            <a:off x="7675206" y="91910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5"/>
          <p:cNvSpPr/>
          <p:nvPr/>
        </p:nvSpPr>
        <p:spPr>
          <a:xfrm>
            <a:off x="7219744" y="713878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5"/>
          <p:cNvSpPr/>
          <p:nvPr/>
        </p:nvSpPr>
        <p:spPr>
          <a:xfrm>
            <a:off x="7249493" y="8346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7721832" y="713878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5"/>
          <p:cNvSpPr/>
          <p:nvPr/>
        </p:nvSpPr>
        <p:spPr>
          <a:xfrm>
            <a:off x="7427422" y="765852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7515015" y="750127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5"/>
          <p:cNvSpPr/>
          <p:nvPr/>
        </p:nvSpPr>
        <p:spPr>
          <a:xfrm>
            <a:off x="7584844" y="834615"/>
            <a:ext cx="69900" cy="68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5"/>
          <p:cNvSpPr/>
          <p:nvPr/>
        </p:nvSpPr>
        <p:spPr>
          <a:xfrm>
            <a:off x="6949604" y="136962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5"/>
          <p:cNvSpPr/>
          <p:nvPr/>
        </p:nvSpPr>
        <p:spPr>
          <a:xfrm>
            <a:off x="6813703" y="138739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5"/>
          <p:cNvSpPr/>
          <p:nvPr/>
        </p:nvSpPr>
        <p:spPr>
          <a:xfrm>
            <a:off x="7002523" y="121370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7059385" y="128246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7019438" y="1332329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7046637" y="143838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5"/>
          <p:cNvSpPr/>
          <p:nvPr/>
        </p:nvSpPr>
        <p:spPr>
          <a:xfrm>
            <a:off x="7099645" y="1456772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6963744" y="147455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5"/>
          <p:cNvSpPr/>
          <p:nvPr/>
        </p:nvSpPr>
        <p:spPr>
          <a:xfrm>
            <a:off x="7152564" y="1300858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7209426" y="136962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5"/>
          <p:cNvSpPr/>
          <p:nvPr/>
        </p:nvSpPr>
        <p:spPr>
          <a:xfrm>
            <a:off x="7169479" y="141948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5"/>
          <p:cNvSpPr/>
          <p:nvPr/>
        </p:nvSpPr>
        <p:spPr>
          <a:xfrm>
            <a:off x="7196678" y="152553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6964369" y="116748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6828467" y="118526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5"/>
          <p:cNvSpPr/>
          <p:nvPr/>
        </p:nvSpPr>
        <p:spPr>
          <a:xfrm>
            <a:off x="7017287" y="1011567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5"/>
          <p:cNvSpPr/>
          <p:nvPr/>
        </p:nvSpPr>
        <p:spPr>
          <a:xfrm>
            <a:off x="7074150" y="108033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7034202" y="113019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7061402" y="1236240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7047263" y="11239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5"/>
          <p:cNvSpPr/>
          <p:nvPr/>
        </p:nvSpPr>
        <p:spPr>
          <a:xfrm>
            <a:off x="6911361" y="114168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5"/>
          <p:cNvSpPr/>
          <p:nvPr/>
        </p:nvSpPr>
        <p:spPr>
          <a:xfrm>
            <a:off x="7100181" y="967991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>
            <a:off x="7157043" y="103675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7117096" y="108661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7144296" y="1192664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5"/>
          <p:cNvSpPr/>
          <p:nvPr/>
        </p:nvSpPr>
        <p:spPr>
          <a:xfrm>
            <a:off x="7197303" y="1211057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5"/>
          <p:cNvSpPr/>
          <p:nvPr/>
        </p:nvSpPr>
        <p:spPr>
          <a:xfrm>
            <a:off x="7061402" y="122883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5"/>
          <p:cNvSpPr/>
          <p:nvPr/>
        </p:nvSpPr>
        <p:spPr>
          <a:xfrm>
            <a:off x="7250222" y="1055143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7307084" y="1123905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5"/>
          <p:cNvSpPr/>
          <p:nvPr/>
        </p:nvSpPr>
        <p:spPr>
          <a:xfrm>
            <a:off x="7267137" y="117376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5"/>
          <p:cNvSpPr/>
          <p:nvPr/>
        </p:nvSpPr>
        <p:spPr>
          <a:xfrm>
            <a:off x="7294336" y="1279816"/>
            <a:ext cx="69900" cy="6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5"/>
          <p:cNvSpPr/>
          <p:nvPr/>
        </p:nvSpPr>
        <p:spPr>
          <a:xfrm>
            <a:off x="7568082" y="100358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7597831" y="112432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8070169" y="100358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7775760" y="105555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5"/>
          <p:cNvSpPr/>
          <p:nvPr/>
        </p:nvSpPr>
        <p:spPr>
          <a:xfrm>
            <a:off x="7863353" y="103983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7933182" y="112432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5"/>
          <p:cNvSpPr/>
          <p:nvPr/>
        </p:nvSpPr>
        <p:spPr>
          <a:xfrm>
            <a:off x="7543546" y="110859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5"/>
          <p:cNvSpPr/>
          <p:nvPr/>
        </p:nvSpPr>
        <p:spPr>
          <a:xfrm>
            <a:off x="7573296" y="122933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5"/>
          <p:cNvSpPr/>
          <p:nvPr/>
        </p:nvSpPr>
        <p:spPr>
          <a:xfrm>
            <a:off x="8045634" y="110859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7751224" y="1160571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5"/>
          <p:cNvSpPr/>
          <p:nvPr/>
        </p:nvSpPr>
        <p:spPr>
          <a:xfrm>
            <a:off x="7838818" y="11448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7908646" y="122933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7453185" y="102411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7482934" y="11448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5"/>
          <p:cNvSpPr/>
          <p:nvPr/>
        </p:nvSpPr>
        <p:spPr>
          <a:xfrm>
            <a:off x="7955272" y="102411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5"/>
          <p:cNvSpPr/>
          <p:nvPr/>
        </p:nvSpPr>
        <p:spPr>
          <a:xfrm>
            <a:off x="7660863" y="10760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5"/>
          <p:cNvSpPr/>
          <p:nvPr/>
        </p:nvSpPr>
        <p:spPr>
          <a:xfrm>
            <a:off x="7748456" y="106035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5"/>
          <p:cNvSpPr/>
          <p:nvPr/>
        </p:nvSpPr>
        <p:spPr>
          <a:xfrm>
            <a:off x="7818285" y="114484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5"/>
          <p:cNvSpPr/>
          <p:nvPr/>
        </p:nvSpPr>
        <p:spPr>
          <a:xfrm>
            <a:off x="7601912" y="11879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5"/>
          <p:cNvSpPr/>
          <p:nvPr/>
        </p:nvSpPr>
        <p:spPr>
          <a:xfrm>
            <a:off x="7631661" y="130872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5"/>
          <p:cNvSpPr/>
          <p:nvPr/>
        </p:nvSpPr>
        <p:spPr>
          <a:xfrm>
            <a:off x="8104000" y="1187984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5"/>
          <p:cNvSpPr/>
          <p:nvPr/>
        </p:nvSpPr>
        <p:spPr>
          <a:xfrm>
            <a:off x="7809590" y="123995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5"/>
          <p:cNvSpPr/>
          <p:nvPr/>
        </p:nvSpPr>
        <p:spPr>
          <a:xfrm>
            <a:off x="7897183" y="1224233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5"/>
          <p:cNvSpPr/>
          <p:nvPr/>
        </p:nvSpPr>
        <p:spPr>
          <a:xfrm>
            <a:off x="7967012" y="1308720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5"/>
          <p:cNvSpPr/>
          <p:nvPr/>
        </p:nvSpPr>
        <p:spPr>
          <a:xfrm>
            <a:off x="7577376" y="129299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5"/>
          <p:cNvSpPr/>
          <p:nvPr/>
        </p:nvSpPr>
        <p:spPr>
          <a:xfrm>
            <a:off x="7607126" y="141373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5"/>
          <p:cNvSpPr/>
          <p:nvPr/>
        </p:nvSpPr>
        <p:spPr>
          <a:xfrm>
            <a:off x="8079464" y="1292996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5"/>
          <p:cNvSpPr/>
          <p:nvPr/>
        </p:nvSpPr>
        <p:spPr>
          <a:xfrm>
            <a:off x="7785055" y="1344969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5"/>
          <p:cNvSpPr/>
          <p:nvPr/>
        </p:nvSpPr>
        <p:spPr>
          <a:xfrm>
            <a:off x="7872648" y="13292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5"/>
          <p:cNvSpPr/>
          <p:nvPr/>
        </p:nvSpPr>
        <p:spPr>
          <a:xfrm>
            <a:off x="7942477" y="141373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5"/>
          <p:cNvSpPr/>
          <p:nvPr/>
        </p:nvSpPr>
        <p:spPr>
          <a:xfrm>
            <a:off x="7487015" y="120850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5"/>
          <p:cNvSpPr/>
          <p:nvPr/>
        </p:nvSpPr>
        <p:spPr>
          <a:xfrm>
            <a:off x="7516764" y="13292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5"/>
          <p:cNvSpPr/>
          <p:nvPr/>
        </p:nvSpPr>
        <p:spPr>
          <a:xfrm>
            <a:off x="7989102" y="1208508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5"/>
          <p:cNvSpPr/>
          <p:nvPr/>
        </p:nvSpPr>
        <p:spPr>
          <a:xfrm>
            <a:off x="7694693" y="1260482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5"/>
          <p:cNvSpPr/>
          <p:nvPr/>
        </p:nvSpPr>
        <p:spPr>
          <a:xfrm>
            <a:off x="7782286" y="1244757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5"/>
          <p:cNvSpPr/>
          <p:nvPr/>
        </p:nvSpPr>
        <p:spPr>
          <a:xfrm>
            <a:off x="7852115" y="1329245"/>
            <a:ext cx="69900" cy="68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6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"/>
          <p:cNvSpPr txBox="1"/>
          <p:nvPr>
            <p:ph type="ctrTitle"/>
          </p:nvPr>
        </p:nvSpPr>
        <p:spPr>
          <a:xfrm>
            <a:off x="3748650" y="3847225"/>
            <a:ext cx="53001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2"/>
                </a:solidFill>
              </a:rPr>
              <a:t>What is Unsupervised Learning?</a:t>
            </a:r>
            <a:r>
              <a:rPr lang="en" sz="4400">
                <a:solidFill>
                  <a:schemeClr val="dk2"/>
                </a:solidFill>
              </a:rPr>
              <a:t> ✓</a:t>
            </a:r>
            <a:r>
              <a:rPr lang="en" sz="5200">
                <a:solidFill>
                  <a:schemeClr val="dk2"/>
                </a:solidFill>
              </a:rPr>
              <a:t> </a:t>
            </a:r>
            <a:endParaRPr sz="5200" u="sng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